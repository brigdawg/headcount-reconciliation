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outcome. This deck is process; the live app is the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 is comprehension and alignment — not missing data. Comes from a real Utah Head of Finance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sources aloud. Point: if people cost dominates opex and spreadsheets dominate FP&amp;A, headcount recon is a first-class product problem for BambooHR’s finance 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 star for every later decision. If it doesn’t help these people trust or decide,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Treat as reasons to believe. Pain = presentation failure. Opportunity = finance buying motion.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on attribution. Pattern: shared systems scarce; integration cuts recon time and speeds forecasts. Supports product 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helped generate; human kept five and mapped each to a UI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Honesty builds credibility: one deep signal + artifact analysis now; structured interviews before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human nodes in green path. Weekly triad + glossary + source-of-truth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cuts from Finance review: contractors out for simplicity; Marketing −2 named (Events not backfilling + Lifecycle closed); pivots; July close vs viewing date; story before grids.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North star: time to understand headcount at a given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explicit: illustrative. Validate hours in interviews. Pattern matches industry automation claims (TeamOhana/Drivetrain narrative of hours→minutes).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north star. Offer demo + pilot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54480"/>
            <a:ext cx="2194560" cy="4709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1B1F17"/>
                </a:solidFill>
                <a:latin typeface="Arial"/>
              </a:rPr>
              <a:t>Headcount Control Tower</a:t>
            </a:r>
          </a:p>
          <a:p>
            <a:pPr algn="l">
              <a:spcBef>
                <a:spcPts val="1400"/>
              </a:spcBef>
            </a:pPr>
            <a:r>
              <a:rPr sz="2000" b="0">
                <a:solidFill>
                  <a:srgbClr val="6A7264"/>
                </a:solidFill>
                <a:latin typeface="Arial"/>
              </a:rPr>
              <a:t>Product discovery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B1F17"/>
                </a:solidFill>
                <a:latin typeface="Arial"/>
              </a:rPr>
              <a:t>Make planned vs actual headcount understandable in 30 seconds.</a:t>
            </a:r>
          </a:p>
          <a:p>
            <a:pPr algn="l">
              <a:spcBef>
                <a:spcPts val="1000"/>
              </a:spcBef>
            </a:pPr>
            <a:r>
              <a:rPr sz="1400" b="0">
                <a:solidFill>
                  <a:srgbClr val="6A7264"/>
                </a:solidFill>
                <a:latin typeface="Arial"/>
              </a:rPr>
              <a:t>AI-augmented discovery  ·  Interactive prototype  ·  2–3 hour timebox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Reconciliation is critical. The tools are unreadable.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Many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Board plan, roll-forward, HRIS actuals, and approvals live in separate tabs and systems.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No shared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Backfill, not backfilling, pivot, and net-new mean different things — so −2 looks unexplained.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18288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B1F17"/>
                </a:solidFill>
                <a:latin typeface="Arial"/>
              </a:rPr>
              <a:t>No trusted as-of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292608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264"/>
                </a:solidFill>
                <a:latin typeface="Arial"/>
              </a:rPr>
              <a:t>Leaders cannot tell if the number is as of today or as of month-end close — trust erodes every recon.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People cost is the budget. Misaligned headcount is a strategy tax.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60–80%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operating expense
is people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Aleph / FP&amp;A industry framing,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~70%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operating costs
are labor at most firms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HR Bench on HR–Finance headcount alignment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2011680"/>
            <a:ext cx="2971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4F8F12"/>
                </a:solidFill>
                <a:latin typeface="Arial"/>
              </a:rPr>
              <a:t>99%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3108960"/>
            <a:ext cx="2971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of FP&amp;A pros use
spreadsheets monthly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AFP FP&amp;A Benchmarking Survey,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Who wins when the number is trustworthy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69164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One explained variance story at a clear as-of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Named missing seats · faster board answers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06039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8035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788919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Easy dispositions: backfill / not backfilling / pivot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788919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Inputs Finance can trust without a rebuild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0332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776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Managers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8862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Visible request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8862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Less tribal knowledge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80060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074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BambooHR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49834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A reason for finance to care about HRIS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98348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F8F12"/>
                </a:solidFill>
                <a:latin typeface="Arial"/>
              </a:rPr>
              <a:t>“Sell the finance department easier”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Primary research — Head of Finance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10972800" cy="2011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83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“Reconciliation is critical, but the presentation tools are complicated and nobody understands them”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840480"/>
            <a:ext cx="1097280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B1F17"/>
                </a:solidFill>
                <a:latin typeface="Arial"/>
              </a:rPr>
              <a:t>“If this product existed, you would sell the finance department much easier”</a:t>
            </a:r>
          </a:p>
          <a:p>
            <a:pPr algn="l">
              <a:spcBef>
                <a:spcPts val="1400"/>
              </a:spcBef>
            </a:pPr>
            <a:r>
              <a:rPr sz="1400" b="1">
                <a:solidFill>
                  <a:srgbClr val="4F8F12"/>
                </a:solidFill>
                <a:latin typeface="Arial"/>
              </a:rPr>
              <a:t>— Head of Finance  ·  Direct GTM signal for BambooHR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Market pattern — this is not one company’s 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HR &amp; Finance lack shared systems
for workforce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Cited via Kinnect (Gartner)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reduction in reconciliation time
after HRIS–FP&amp;A integration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IJIRMPS healthcare case,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554480"/>
            <a:ext cx="35204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199" y="1965960"/>
            <a:ext cx="2971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4F8F12"/>
                </a:solidFill>
                <a:latin typeface="Arial"/>
              </a:rPr>
              <a:t>20–30%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3017520"/>
            <a:ext cx="2971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faster forecasting cycles with
integrated planning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McKinsey, cited in IJIRMPS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Five beliefs we designed the prototype to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Cognitive 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08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Multi-tab recon exceeds working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508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Story + named missing seats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8600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3774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Definition debt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Backfill / not backfilling / pivot undefined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Disposition tags HR can set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37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2461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No decision object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246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Mid-cycle changes live in spreadsheets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2461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Manual update in-product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59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062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11479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Time blindness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114799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Today vs close date confused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114799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Explicit July close as-of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914400" cy="68580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74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H5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983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Wrong default viz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498348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Grids serve authors, not leaders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Bridge tells the story first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INTERVIEWS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What we have — and what we would learn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In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Head of Finance conversation (exact quotes)</a:t>
            </a:r>
          </a:p>
          <a:p>
            <a:pPr algn="l">
              <a:spcBef>
                <a:spcPts val="14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Live spreadsheet: board / roll-forward / HC recon / net-new</a:t>
            </a:r>
          </a:p>
          <a:p>
            <a:pPr algn="l">
              <a:spcBef>
                <a:spcPts val="1400"/>
              </a:spcBef>
            </a:pPr>
            <a:r>
              <a:rPr sz="1400" b="0">
                <a:solidFill>
                  <a:srgbClr val="1B1F17"/>
                </a:solidFill>
                <a:latin typeface="Arial"/>
              </a:rPr>
              <a:t>Follow-up review: name what’s missing, clear as-of, not backfilling + pivots, drop contractors, tell the 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8F12"/>
                </a:solidFill>
                <a:latin typeface="Arial"/>
              </a:rPr>
              <a:t>Next five interviews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28600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lead — close ritual &amp; variance questions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HR ops — ticket classification &amp; SLA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Hiring manager — request status needs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Controller / CFO — board report bar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B1F17"/>
                </a:solidFill>
                <a:latin typeface="Arial"/>
              </a:rPr>
              <a:t>Eng / ATS owner — source-of-truth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PRODUCT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AI accelerates. Cross-functional partners decide.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Artifact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AI summarize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Validate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Hypothesize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Prioritize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2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Prototype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78440" y="1508760"/>
            <a:ext cx="1508760" cy="8229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78440" y="169164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B1F17"/>
                </a:solidFill>
                <a:latin typeface="Arial"/>
              </a:rPr>
              <a:t>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Frame, prioritize, decision log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Board, variance, close needs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27432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9" y="30175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HR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9" y="34747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Ticket semantics &amp; path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30-second comprehension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34840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Engineering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Source of truth &amp; audit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4343400"/>
            <a:ext cx="35204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79" y="461772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1F17"/>
                </a:solidFill>
                <a:latin typeface="Arial"/>
              </a:rPr>
              <a:t>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9" y="5074920"/>
            <a:ext cx="3063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Time-to-answer &amp; SLAs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ITERATIONS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Ship → show → simplify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Story first  ·  Named missing seats + July close as-of</a:t>
            </a:r>
          </a:p>
        </p:txBody>
      </p:sp>
      <p:pic>
        <p:nvPicPr>
          <p:cNvPr id="8" name="Picture 7" descr="01-home-outlook-t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4535126" cy="18745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79" y="137160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Bridge  ·  Backfill · not backfilling · pivot</a:t>
            </a:r>
          </a:p>
        </p:txBody>
      </p:sp>
      <p:pic>
        <p:nvPicPr>
          <p:cNvPr id="11" name="Picture 10" descr="02-bridge-t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799" y="1783080"/>
            <a:ext cx="4535126" cy="187451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Manual update  ·  Mid-cycle edits systems miss</a:t>
            </a:r>
          </a:p>
        </p:txBody>
      </p:sp>
      <p:pic>
        <p:nvPicPr>
          <p:cNvPr id="14" name="Picture 13" descr="03-approvals-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4251960"/>
            <a:ext cx="4535126" cy="1874519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355079" y="3840480"/>
            <a:ext cx="5577840" cy="365760"/>
          </a:xfrm>
          <a:prstGeom prst="roundRect">
            <a:avLst>
              <a:gd name="adj" fmla="val 6000"/>
            </a:avLst>
          </a:prstGeom>
          <a:solidFill>
            <a:srgbClr val="F3F8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3886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1F17"/>
                </a:solidFill>
                <a:latin typeface="Arial"/>
              </a:rPr>
              <a:t>Export  ·  Close-ready workbook preview</a:t>
            </a:r>
          </a:p>
        </p:txBody>
      </p:sp>
      <p:pic>
        <p:nvPicPr>
          <p:cNvPr id="17" name="Picture 16" descr="04-export-ti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799" y="4251960"/>
            <a:ext cx="4535126" cy="18745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SUCCESS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Measure understanding — tie every metric to why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Time to understand HC @ close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&lt; 30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Comprehension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Month-end recon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Hours →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Finance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508760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508760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9" y="1828800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Disposition logged on attrition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251460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% of exits tagged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9" y="2971800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HR clarity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Unexplained dept gaps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→ 0 at close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Named seats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34840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Variance follow-ups /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Fewer threads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Trust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83879" y="3749039"/>
            <a:ext cx="352044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3749039"/>
            <a:ext cx="3520440" cy="73152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9" y="4069079"/>
            <a:ext cx="3063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1F17"/>
                </a:solidFill>
                <a:latin typeface="Arial"/>
              </a:rPr>
              <a:t>Weekly active Finance + HR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79" y="4754879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8F12"/>
                </a:solidFill>
                <a:latin typeface="Arial"/>
              </a:rPr>
              <a:t>Adoption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79" y="5212079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264"/>
                </a:solidFill>
                <a:latin typeface="Arial"/>
              </a:rPr>
              <a:t>Real 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6032"/>
            <a:ext cx="1417320" cy="3041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2860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8F12"/>
                </a:solidFill>
                <a:latin typeface="Arial"/>
              </a:rPr>
              <a:t>ILLUSTRATIVE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1720" y="457200"/>
            <a:ext cx="9326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1F17"/>
                </a:solidFill>
                <a:latin typeface="Arial"/>
              </a:rPr>
              <a:t>Modeled for a ~300 FTE company — labeled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A7264"/>
                </a:solidFill>
                <a:latin typeface="Arial"/>
              </a:rPr>
              <a:t>Not a customer ROI claim — a defendable planning model for interview discussion.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8–12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FP&amp;A time / month on recon
before (assumption)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Based on multi-tab close ritual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&lt;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Target time to trusted view
after Control Tower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North-star product goal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92024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6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199" y="22860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F8F12"/>
                </a:solidFill>
                <a:latin typeface="Arial"/>
              </a:rPr>
              <a:t>~90%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3200400"/>
            <a:ext cx="2971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B1F17"/>
                </a:solidFill>
                <a:latin typeface="Arial"/>
              </a:rPr>
              <a:t>Time saved on recon work
in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199" y="4754880"/>
            <a:ext cx="2971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264"/>
                </a:solidFill>
                <a:latin typeface="Arial"/>
              </a:rPr>
              <a:t>Aligns with automation vendor claims; validate in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53796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7264"/>
                </a:solidFill>
                <a:latin typeface="Arial"/>
              </a:rPr>
              <a:t>BambooHR interview case study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379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7264"/>
                </a:solidFill>
                <a:latin typeface="Arial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3C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mbooh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2011680" cy="4317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B1F17"/>
                </a:solidFill>
                <a:latin typeface="Arial"/>
              </a:rPr>
              <a:t>Make headcount reconciliation
understandable in 30 seconds.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B1F17"/>
                </a:solidFill>
                <a:latin typeface="Arial"/>
              </a:rPr>
              <a:t>Tell the story: as-of date · named missing seats · dispositions Finance and HR share.</a:t>
            </a:r>
          </a:p>
          <a:p>
            <a:pPr algn="l">
              <a:spcBef>
                <a:spcPts val="1000"/>
              </a:spcBef>
            </a:pPr>
            <a:r>
              <a:rPr sz="1600" b="0">
                <a:solidFill>
                  <a:srgbClr val="1B1F17"/>
                </a:solidFill>
                <a:latin typeface="Arial"/>
              </a:rPr>
              <a:t>Evidence → hypotheses → cross-functional build → iterate with Finance → measure.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4F8F12"/>
                </a:solidFill>
                <a:latin typeface="Arial"/>
              </a:rPr>
              <a:t>AI accelerated discovery. Judgment — and partner review — drove the product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264"/>
                </a:solidFill>
                <a:latin typeface="Arial"/>
              </a:rPr>
              <a:t>Live prototype link in README  ·  Next: 5 interviews + one close 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