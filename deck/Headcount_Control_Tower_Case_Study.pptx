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70" r:id="rId21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9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2464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on the problem. Prototype is the proof; this deck is why it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 this out loud: we are solving “make headcount recon understandable,” not “collect more HR data.” Rooted in a real Utah Head of Finance workflow and follow-up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Client why = time, trust, shared language. Tie every prototype feature back to one of these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BambooHR why = GTM into Finance + stickiness of the close ritual. Quote is primary research — treat as directional, not a win-rate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Emphasize: proprietary contact data was scrubbed. Structure is the point — 4 tabs, dense role rows, monthly columns, formulas. This is why “presentation tools are complicated and nobody understands them.”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the bus-factor quote after the comprehension quote. Problem is not only time — institutional knowledge concentrated in one FP&amp;A owner. Product value = shared story so the company is not doomed if that person is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Prefer cohesion + recon-time stats. Cite carefully: Gartner via Kinnect; IJIRMPS for 14→8 days and 45% recon-time cut; PwC 25% discrepancy. Also available: Workday customer claim 60% less manual recon / 50% faster close — use only if you want vendor-sourced color.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AI helped generate; human kept five and mapped each to a UI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 as a PM operating model: sit with Finance, co-design with HR, pair with Design on comprehension, negotiate with Eng on automation boundaries, and bring Implementation in before 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Honesty: one deep signal + artifact now; structured interviews before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Partner feedback drove cuts: contractors out; named Marketing −2; pivots; July close vs viewing date; manual update.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North star: time to understand headcount at a given close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Stay humble on ROI. Point back to market recon-time evidence + partner’s lived spreadsheet pain.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End on the bus-factor quote. Takeaway: resilience and shared understanding, not only speed. Offer the live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71600"/>
            <a:ext cx="2194560" cy="4709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286000"/>
            <a:ext cx="10058400" cy="122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dirty="0">
                <a:solidFill>
                  <a:srgbClr val="1B1F17"/>
                </a:solidFill>
                <a:latin typeface="Arial"/>
              </a:rPr>
              <a:t>Headcount </a:t>
            </a:r>
            <a:r>
              <a:rPr lang="en-US" sz="4200" b="1" dirty="0">
                <a:solidFill>
                  <a:srgbClr val="1B1F17"/>
                </a:solidFill>
                <a:latin typeface="Arial"/>
              </a:rPr>
              <a:t>Reconciliation</a:t>
            </a:r>
            <a:endParaRPr sz="4200" b="1" dirty="0">
              <a:solidFill>
                <a:srgbClr val="1B1F17"/>
              </a:solidFill>
              <a:latin typeface="Arial"/>
            </a:endParaRPr>
          </a:p>
          <a:p>
            <a:pPr algn="l">
              <a:spcBef>
                <a:spcPts val="1400"/>
              </a:spcBef>
            </a:pPr>
            <a:r>
              <a:rPr sz="2000" b="0" dirty="0">
                <a:solidFill>
                  <a:srgbClr val="6A7264"/>
                </a:solidFill>
                <a:latin typeface="Arial"/>
              </a:rPr>
              <a:t>Product discovery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058400" cy="774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1B1F17"/>
                </a:solidFill>
                <a:latin typeface="Arial"/>
              </a:rPr>
              <a:t>The problem: leaders can’t trust or explain planned vs filled headcount.</a:t>
            </a:r>
          </a:p>
          <a:p>
            <a:pPr algn="l">
              <a:spcBef>
                <a:spcPts val="1000"/>
              </a:spcBef>
            </a:pPr>
            <a:r>
              <a:rPr sz="1800" b="0" dirty="0">
                <a:solidFill>
                  <a:srgbClr val="1B1F17"/>
                </a:solidFill>
                <a:latin typeface="Arial"/>
              </a:rPr>
              <a:t>The bet: make that story clear in 30 seconds</a:t>
            </a:r>
            <a:r>
              <a:rPr lang="en-US" sz="1800" b="0" dirty="0">
                <a:solidFill>
                  <a:srgbClr val="1B1F17"/>
                </a:solidFill>
                <a:latin typeface="Arial"/>
              </a:rPr>
              <a:t>, </a:t>
            </a:r>
            <a:r>
              <a:rPr sz="1800" b="0" dirty="0">
                <a:solidFill>
                  <a:srgbClr val="1B1F17"/>
                </a:solidFill>
                <a:latin typeface="Arial"/>
              </a:rPr>
              <a:t>for Finance,</a:t>
            </a:r>
            <a:r>
              <a:rPr lang="en-US" dirty="0">
                <a:solidFill>
                  <a:srgbClr val="1B1F17"/>
                </a:solidFill>
                <a:latin typeface="Arial"/>
              </a:rPr>
              <a:t> and HR</a:t>
            </a:r>
            <a:r>
              <a:rPr sz="1800" b="0" dirty="0">
                <a:solidFill>
                  <a:srgbClr val="1B1F17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100" b="1">
                <a:solidFill>
                  <a:srgbClr val="4F8F12"/>
                </a:solidFill>
                <a:latin typeface="Arial"/>
              </a:rPr>
              <a:t>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600" b="1">
                <a:solidFill>
                  <a:srgbClr val="1B1F17"/>
                </a:solidFill>
                <a:latin typeface="Arial"/>
              </a:rPr>
              <a:t>What headcount reconciliation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9601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500" b="0">
                <a:solidFill>
                  <a:srgbClr val="6A7264"/>
                </a:solidFill>
                <a:latin typeface="Arial"/>
              </a:rPr>
              <a:t>A 60-second primer before we get into the problem.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08760"/>
            <a:ext cx="10972800" cy="182880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373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1">
                <a:solidFill>
                  <a:srgbClr val="4F8F12"/>
                </a:solidFill>
                <a:latin typeface="Arial"/>
              </a:rPr>
              <a:t>In plain terms</a:t>
            </a:r>
          </a:p>
          <a:p>
            <a:pPr>
              <a:spcBef>
                <a:spcPts val="1000"/>
              </a:spcBef>
            </a:pPr>
            <a:r>
              <a:rPr sz="2000" b="0">
                <a:solidFill>
                  <a:srgbClr val="1B1F17"/>
                </a:solidFill>
                <a:latin typeface="Arial"/>
              </a:rPr>
              <a:t>Headcount reconciliation is comparing the hiring plan leadership approved to the people actually in roles — and explaining any difference.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611880"/>
            <a:ext cx="35204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1B1F17"/>
                </a:solidFill>
                <a:latin typeface="Arial"/>
              </a:rPr>
              <a:t>Approved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34340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0">
                <a:solidFill>
                  <a:srgbClr val="6A7264"/>
                </a:solidFill>
                <a:latin typeface="Arial"/>
              </a:rPr>
              <a:t>How many people the company said it would hire or keep — usually locked with the budget.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3611880"/>
            <a:ext cx="35204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59" y="3840480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1B1F17"/>
                </a:solidFill>
                <a:latin typeface="Arial"/>
              </a:rPr>
              <a:t>Filled (actual)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434340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0">
                <a:solidFill>
                  <a:srgbClr val="6A7264"/>
                </a:solidFill>
                <a:latin typeface="Arial"/>
              </a:rPr>
              <a:t>How many people are really in those roles as of a specific date (often month-end close).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3611880"/>
            <a:ext cx="35204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3840480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1B1F17"/>
                </a:solidFill>
                <a:latin typeface="Arial"/>
              </a:rPr>
              <a:t>The recon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4340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0">
                <a:solidFill>
                  <a:srgbClr val="6A7264"/>
                </a:solidFill>
                <a:latin typeface="Arial"/>
              </a:rPr>
              <a:t>The work of matching those views, naming gaps, and agreeing on one number Finance and HR can trust.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080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0">
                <a:solidFill>
                  <a:srgbClr val="1B1F17"/>
                </a:solidFill>
                <a:latin typeface="Arial"/>
              </a:rPr>
              <a:t>Why it matters: people are usually the largest operating cost — so this number drives hiring, budget, and board conversations.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4F8F12"/>
                </a:solidFill>
                <a:latin typeface="Arial"/>
              </a:rPr>
              <a:t>THE PROBLEM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0"/>
            <a:ext cx="95554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Headcount r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econciliation is critical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but nobody can follow the story.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number isn’t trusted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08960"/>
            <a:ext cx="292608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Approved plan, working plan, and filled headcount live in different tabs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often only one Finance owner can rebuild the story.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09160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gap isn’t explained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108960"/>
            <a:ext cx="292608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Marketing can be −2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 headcount 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vs plan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ned headcount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with no named reason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 (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not backfilling, role closed, or a pivot to another team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). 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199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date isn’t clear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199" y="3108960"/>
            <a:ext cx="292608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Is this as of today or as of month-end close? Without a trusted as-of, every recon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ciliation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rebuilds trust from scratch.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WHY THIS HELPS CLIENTS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1F17"/>
                </a:solidFill>
                <a:latin typeface="Arial"/>
              </a:rPr>
              <a:t>When Finance and HR share one headcount story, the business moves faster.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4592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Answer “where are we vs the approved hiring plan?” in one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6459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Fewer recon threads · board-ready variance · knowledge not trapped in one person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56032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743200"/>
            <a:ext cx="48463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Log backfill / not backfilling / pivot once</a:t>
            </a:r>
            <a:r>
              <a:rPr lang="en-US" sz="1500" b="0" dirty="0">
                <a:solidFill>
                  <a:srgbClr val="1B1F17"/>
                </a:solidFill>
                <a:latin typeface="Arial"/>
              </a:rPr>
              <a:t>,</a:t>
            </a:r>
            <a:r>
              <a:rPr sz="1500" b="0" dirty="0">
                <a:solidFill>
                  <a:srgbClr val="1B1F17"/>
                </a:solidFill>
                <a:latin typeface="Arial"/>
              </a:rPr>
              <a:t> Finance sees it instantly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74320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Less spreadsheet ping-pong · clearer hiring priorities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5760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9319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Managers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84048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See request status without chasing HR or FP&amp;A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840480"/>
            <a:ext cx="33832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4F8F12"/>
                </a:solidFill>
                <a:latin typeface="Arial"/>
              </a:rPr>
              <a:t>Less tribal knowledge · fewer stalled req</a:t>
            </a:r>
            <a:r>
              <a:rPr lang="en-US" sz="1400" b="1" dirty="0">
                <a:solidFill>
                  <a:srgbClr val="4F8F12"/>
                </a:solidFill>
                <a:latin typeface="Arial"/>
              </a:rPr>
              <a:t>uirement</a:t>
            </a:r>
            <a:r>
              <a:rPr sz="1400" b="1" dirty="0">
                <a:solidFill>
                  <a:srgbClr val="4F8F12"/>
                </a:solidFill>
                <a:latin typeface="Arial"/>
              </a:rPr>
              <a:t>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754879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029199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Leadership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937759"/>
            <a:ext cx="48463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Trust the as-of date and named drivers</a:t>
            </a:r>
            <a:r>
              <a:rPr lang="en-US" sz="1500" b="0" dirty="0">
                <a:solidFill>
                  <a:srgbClr val="1B1F17"/>
                </a:solidFill>
                <a:latin typeface="Arial"/>
              </a:rPr>
              <a:t>, </a:t>
            </a:r>
            <a:r>
              <a:rPr sz="1500" b="0" dirty="0">
                <a:solidFill>
                  <a:srgbClr val="1B1F17"/>
                </a:solidFill>
                <a:latin typeface="Arial"/>
              </a:rPr>
              <a:t> even if the FP&amp;A owner is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4937759"/>
            <a:ext cx="33832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4F8F12"/>
                </a:solidFill>
                <a:latin typeface="Arial"/>
              </a:rPr>
              <a:t>Business continuity · decisions on people cost, not one person’s spreadsheet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WHY THIS HELPS BAMBOOHR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A product Finance will fight for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not only HR.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Sell Finance easier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Head of Finance: “If this product existed, you would sell the finance department much easier.” Direct GTM signal.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508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28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Expand beyond HRIS admin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377440"/>
            <a:ext cx="48006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Headcount recon sits on BambooHR’s source-of-truth. Makes the HRIS the system Finance opens at close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not a spreadsheet export.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94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4800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1B1F17"/>
                </a:solidFill>
                <a:latin typeface="Arial"/>
              </a:rPr>
              <a:t>Differentiate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48006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0" dirty="0">
                <a:solidFill>
                  <a:srgbClr val="6A7264"/>
                </a:solidFill>
                <a:latin typeface="Arial"/>
              </a:rPr>
              <a:t>Companies like ADP who have large clients do not have this type of product even though it is a major time commitment for current finance leaders.</a:t>
            </a:r>
            <a:endParaRPr sz="14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355080" y="3794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0" y="4114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Retention &amp; expansion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66344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Once FP&amp;A depends on BambooHR for the monthly story, switching costs rise and seats expand into finance buyers.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WHAT IT LOOKS LIKE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Spreadsheet that only the FP&amp;A leader can follow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31720" y="866001"/>
            <a:ext cx="972693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Fictional Northline data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: This is a real spreadsheet from a Head of Finance but with numbers and roles changed to protect confidentiality 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pic>
        <p:nvPicPr>
          <p:cNvPr id="7" name="Picture 6" descr="00-current-spread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417320"/>
            <a:ext cx="7763069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Interview with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Head of Finance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 at 300 employee company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600200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1B1F17"/>
                </a:solidFill>
                <a:latin typeface="Arial"/>
              </a:rPr>
              <a:t>“Reconciliation is critical, but the presentation tools are </a:t>
            </a:r>
            <a:r>
              <a:rPr lang="en-US" sz="2000" b="0" dirty="0">
                <a:solidFill>
                  <a:srgbClr val="1B1F17"/>
                </a:solidFill>
                <a:latin typeface="Arial"/>
              </a:rPr>
              <a:t>complicated,</a:t>
            </a:r>
            <a:r>
              <a:rPr sz="2000" b="0" dirty="0">
                <a:solidFill>
                  <a:srgbClr val="1B1F17"/>
                </a:solidFill>
                <a:latin typeface="Arial"/>
              </a:rPr>
              <a:t> and nobody understands them”</a:t>
            </a:r>
          </a:p>
          <a:p>
            <a:pPr algn="l">
              <a:spcBef>
                <a:spcPts val="1400"/>
              </a:spcBef>
            </a:pPr>
            <a:r>
              <a:rPr sz="1400" b="1" dirty="0">
                <a:solidFill>
                  <a:srgbClr val="4F8F12"/>
                </a:solidFill>
                <a:latin typeface="Arial"/>
              </a:rPr>
              <a:t>— Head of Finance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52628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1B1F17"/>
                </a:solidFill>
                <a:latin typeface="Arial"/>
              </a:rPr>
              <a:t>“If this product existed, you would sell the finance department much easier”</a:t>
            </a:r>
          </a:p>
          <a:p>
            <a:pPr algn="l">
              <a:spcBef>
                <a:spcPts val="1400"/>
              </a:spcBef>
            </a:pPr>
            <a:r>
              <a:rPr sz="1400" b="1" dirty="0">
                <a:solidFill>
                  <a:srgbClr val="4F8F12"/>
                </a:solidFill>
                <a:latin typeface="Arial"/>
              </a:rPr>
              <a:t>— Head of Finance  ·  Direct GTM signal for BambooHR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7/15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7180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3172968"/>
            <a:ext cx="10241280" cy="1036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dirty="0">
                <a:solidFill>
                  <a:srgbClr val="1B1F17"/>
                </a:solidFill>
                <a:latin typeface="Arial"/>
              </a:rPr>
              <a:t>“The problem is I’m the only one that reconciliation relies on. If I got hit by a bus, we’d be doomed”</a:t>
            </a:r>
          </a:p>
          <a:p>
            <a:pPr>
              <a:spcBef>
                <a:spcPts val="1000"/>
              </a:spcBef>
            </a:pPr>
            <a:r>
              <a:rPr sz="1300" b="1" dirty="0">
                <a:solidFill>
                  <a:srgbClr val="4F8F12"/>
                </a:solidFill>
                <a:latin typeface="Arial"/>
              </a:rPr>
              <a:t>— Head of Finance  ·  Key-person / bus</a:t>
            </a:r>
            <a:r>
              <a:rPr lang="en-US" sz="1300" b="1" dirty="0">
                <a:solidFill>
                  <a:srgbClr val="4F8F12"/>
                </a:solidFill>
                <a:latin typeface="Arial"/>
              </a:rPr>
              <a:t>iness</a:t>
            </a:r>
            <a:r>
              <a:rPr sz="1300" b="1" dirty="0">
                <a:solidFill>
                  <a:srgbClr val="4F8F12"/>
                </a:solidFill>
                <a:latin typeface="Arial"/>
              </a:rPr>
              <a:t>-factor risk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Market 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Research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— HR and Finance still don’t share one headcount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72%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of HR &amp; Finance teams lack shared systems for workforce 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Gartner, cited via Kinnect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14 → 8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926080"/>
            <a:ext cx="3063240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0" dirty="0">
                <a:solidFill>
                  <a:srgbClr val="1B1F17"/>
                </a:solidFill>
                <a:latin typeface="Arial"/>
              </a:rPr>
              <a:t>Without a connected system between HR and Finance </a:t>
            </a:r>
            <a:r>
              <a:rPr lang="en-US" sz="1500" dirty="0">
                <a:solidFill>
                  <a:srgbClr val="1B1F17"/>
                </a:solidFill>
                <a:latin typeface="Arial"/>
              </a:rPr>
              <a:t>headcount reconciliation takes 14 days. With a connected system it takes 8. This is without a product that actively monitors reconciliation </a:t>
            </a:r>
            <a:endParaRPr sz="1500" b="0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63440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IJIRMPS healthcare case study,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79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9" y="2926080"/>
            <a:ext cx="30632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average discrepancy between HR and Finance headcount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9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PwC (2022), cited in IJIRMPS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HYPOTHESES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Five initial hypotheses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Cognitive 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5087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Multi-tab recon exceeds working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5087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Story + named gap drivers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28600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4688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3774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Definition debt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3774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Backfill / not backfilling / pivot undefined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Shared disposition tags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15468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3375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246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No decision object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246120"/>
            <a:ext cx="34747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Mid-cycle changes live only in spreadsheets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 an not accessible </a:t>
            </a:r>
            <a:endParaRPr sz="14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686800" y="3246120"/>
            <a:ext cx="2926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4F8F12"/>
                </a:solidFill>
                <a:latin typeface="Arial"/>
              </a:rPr>
              <a:t>Manual update</a:t>
            </a:r>
            <a:r>
              <a:rPr lang="en-US" sz="1400" b="1" dirty="0">
                <a:solidFill>
                  <a:srgbClr val="4F8F12"/>
                </a:solidFill>
                <a:latin typeface="Arial"/>
              </a:rPr>
              <a:t>s required</a:t>
            </a:r>
            <a:endParaRPr sz="14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85800" y="4023359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420623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11479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Time blindness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114799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Today vs close date confused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114799"/>
            <a:ext cx="29260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4F8F12"/>
                </a:solidFill>
                <a:latin typeface="Arial"/>
              </a:rPr>
              <a:t>Explicit </a:t>
            </a:r>
            <a:r>
              <a:rPr lang="en-US" sz="1400" b="1" dirty="0">
                <a:solidFill>
                  <a:srgbClr val="4F8F12"/>
                </a:solidFill>
                <a:latin typeface="Arial"/>
              </a:rPr>
              <a:t>as-of dates / real time data</a:t>
            </a:r>
            <a:endParaRPr sz="14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50749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983480"/>
            <a:ext cx="3200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1B1F17"/>
                </a:solidFill>
                <a:latin typeface="Arial"/>
              </a:rPr>
              <a:t>Wrong default </a:t>
            </a:r>
            <a:r>
              <a:rPr sz="1600" b="1" dirty="0" err="1">
                <a:solidFill>
                  <a:srgbClr val="1B1F17"/>
                </a:solidFill>
                <a:latin typeface="Arial"/>
              </a:rPr>
              <a:t>viz</a:t>
            </a:r>
            <a:r>
              <a:rPr lang="en-US" sz="1600" b="1" dirty="0" err="1">
                <a:solidFill>
                  <a:srgbClr val="1B1F17"/>
                </a:solidFill>
                <a:latin typeface="Arial"/>
              </a:rPr>
              <a:t>ualization</a:t>
            </a:r>
            <a:endParaRPr sz="1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120640" y="49834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Grids serve authors, not leaders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Bridge tells the story first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dirty="0">
                <a:solidFill>
                  <a:srgbClr val="4F8F12"/>
                </a:solidFill>
                <a:latin typeface="Arial"/>
              </a:rPr>
              <a:t>Product Process</a:t>
            </a:r>
            <a:endParaRPr sz="11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Cross-Functional Collaboration is a must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31720" y="9601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dirty="0">
                <a:solidFill>
                  <a:srgbClr val="6A7264"/>
                </a:solidFill>
                <a:latin typeface="Arial"/>
              </a:rPr>
              <a:t>Some of the teams I would collaborate with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own the problem statement and the cuts. I keep a visible decision log so Engineering and Design never guess what “done” means.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 (customer + internal FP&amp;A)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331720"/>
            <a:ext cx="30632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I sit in their close ritual. I learn their words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approved plan, working plan, filled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and pressure-test every screen against a real recon week.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79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 / People 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9" y="2331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co-design dispositions inside HR’s flow, not as a Finance bolt-on. If they won’t tag a Tuesday attrition, the product failed.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pair early on the 30-second test: can a first-time user explain the gap? If not, we redesign before we add features.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63440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617720"/>
            <a:ext cx="306324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I negotiate automation vs manual update with them. We agree source of truth, audit, and what’s intentionally human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before we write tickets.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79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79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Implementation / 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9" y="4617720"/>
            <a:ext cx="306324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I pull them in before GA. Spreadsheet migration, glossary, and pilot success criteria are product work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not a surprise for support.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INTERVIEWS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What we have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 where I would continue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39496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In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754880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Head of Finance conversation (exact quotes)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algn="l"/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Live multi-tab workbook: approved plan / roll-forward / HC recon / net-new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1B1F17"/>
                </a:solidFill>
                <a:latin typeface="Arial"/>
              </a:rPr>
              <a:t>Follow-up: name what’s behind the gap, clear as-of, not backfilling + pivots, drop contractors, tell the story, manual mid-cycle edits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212080" cy="429768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Next five interviews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286000"/>
            <a:ext cx="466344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FP&amp;A lead — close ritual &amp; recon hours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HR ops — disposition SLA &amp; ticket path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Hiring manager — request status need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Controller / CFO — board report b</a:t>
            </a:r>
            <a:r>
              <a:rPr lang="en-US" sz="1500" b="0" dirty="0">
                <a:solidFill>
                  <a:srgbClr val="1B1F17"/>
                </a:solidFill>
                <a:latin typeface="Arial"/>
              </a:rPr>
              <a:t>ar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500" b="0" dirty="0">
                <a:solidFill>
                  <a:srgbClr val="1B1F17"/>
                </a:solidFill>
                <a:latin typeface="Arial"/>
              </a:rPr>
              <a:t>Implementation lead — spreadsheet migration pain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ITERATIONS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Build, Iterate, Launch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Story first  ·  Approved plan · filled · named gap</a:t>
            </a:r>
          </a:p>
        </p:txBody>
      </p:sp>
      <p:pic>
        <p:nvPicPr>
          <p:cNvPr id="8" name="Picture 7" descr="01-home-outlook-t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783080"/>
            <a:ext cx="4535126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79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Bridge  ·  Backfill · not backfilling · pivot</a:t>
            </a:r>
          </a:p>
        </p:txBody>
      </p:sp>
      <p:pic>
        <p:nvPicPr>
          <p:cNvPr id="11" name="Picture 10" descr="02-bridge-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799" y="1783080"/>
            <a:ext cx="4535126" cy="187451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Manual update  ·  Mid-cycle edits systems miss</a:t>
            </a:r>
          </a:p>
        </p:txBody>
      </p:sp>
      <p:pic>
        <p:nvPicPr>
          <p:cNvPr id="14" name="Picture 13" descr="03-approvals-t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4251960"/>
            <a:ext cx="4535126" cy="187451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355079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Export  ·  Close-ready share-out</a:t>
            </a:r>
          </a:p>
        </p:txBody>
      </p:sp>
      <p:pic>
        <p:nvPicPr>
          <p:cNvPr id="17" name="Picture 16" descr="04-export-t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799" y="4251960"/>
            <a:ext cx="4535126" cy="18745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SUCCESS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Measure understanding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. Did this work? 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Time to understand HC @ close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&lt; 30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Comprehension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3484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40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Month-end recon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Hours →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Speed +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83879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79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Disposition logged on attrition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9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% of exits tagged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9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HR–Finance cohesion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8580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Unexplained dept gaps at close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→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Named drivers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43484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6344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Variance follow-ups / 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Fewer threads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Trust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83879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83879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12479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Weekly active Finance + HR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79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Both personas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9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Real 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ILLUSTRATIVE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Potential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1" dirty="0">
                <a:solidFill>
                  <a:srgbClr val="6A7264"/>
                </a:solidFill>
                <a:latin typeface="Arial"/>
              </a:rPr>
              <a:t>Modeled for a ~ 300 Employee company</a:t>
            </a:r>
            <a:endParaRPr sz="1300" b="1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971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dirty="0">
                <a:solidFill>
                  <a:srgbClr val="4F8F12"/>
                </a:solidFill>
                <a:latin typeface="Arial"/>
              </a:rPr>
              <a:t>Redundancy in place </a:t>
            </a:r>
            <a:endParaRPr sz="24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" y="3200400"/>
            <a:ext cx="297180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0" dirty="0">
                <a:solidFill>
                  <a:srgbClr val="1B1F17"/>
                </a:solidFill>
                <a:latin typeface="Arial"/>
              </a:rPr>
              <a:t>More than one person can explain the gap — so recon isn’t a single point of failure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Answers the “hit by a bus” risk from Finance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09160" y="2286000"/>
            <a:ext cx="297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4F8F12"/>
                </a:solidFill>
                <a:latin typeface="Arial"/>
              </a:rPr>
              <a:t>&lt; 30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200400"/>
            <a:ext cx="2971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Target time to a trusted view
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North-star product goal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199" y="2286000"/>
            <a:ext cx="297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4F8F12"/>
                </a:solidFill>
                <a:latin typeface="Arial"/>
              </a:rPr>
              <a:t>~40–60%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3200400"/>
            <a:ext cx="2971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Recon-time reductions seen
in HRIS–FP&amp;A integration cases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199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IJIRMPS / industry pattern — validate in 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188720"/>
            <a:ext cx="2011680" cy="4317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369735"/>
            <a:ext cx="10645140" cy="2734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4000" b="1" dirty="0">
                <a:solidFill>
                  <a:srgbClr val="4F8F12"/>
                </a:solidFill>
                <a:latin typeface="Arial"/>
              </a:rPr>
              <a:t>Key takeaway</a:t>
            </a:r>
          </a:p>
          <a:p>
            <a:pPr>
              <a:spcBef>
                <a:spcPts val="1400"/>
              </a:spcBef>
            </a:pPr>
            <a:r>
              <a:rPr sz="4000" b="1" dirty="0">
                <a:solidFill>
                  <a:srgbClr val="1B1F17"/>
                </a:solidFill>
                <a:latin typeface="Arial"/>
              </a:rPr>
              <a:t>Headcount recon shouldn’t</a:t>
            </a:r>
            <a:r>
              <a:rPr lang="en-US" sz="4000" b="1" dirty="0">
                <a:solidFill>
                  <a:srgbClr val="1B1F17"/>
                </a:solidFill>
                <a:latin typeface="Arial"/>
              </a:rPr>
              <a:t> be complicated,</a:t>
            </a:r>
            <a:r>
              <a:rPr sz="4000" b="1" dirty="0">
                <a:solidFill>
                  <a:srgbClr val="1B1F17"/>
                </a:solidFill>
                <a:latin typeface="Arial"/>
              </a:rPr>
              <a:t> live in one person’s head</a:t>
            </a:r>
            <a:r>
              <a:rPr lang="en-US" sz="4000" b="1" dirty="0">
                <a:solidFill>
                  <a:srgbClr val="1B1F17"/>
                </a:solidFill>
                <a:latin typeface="Arial"/>
              </a:rPr>
              <a:t>,</a:t>
            </a:r>
            <a:r>
              <a:rPr sz="4000" b="1" dirty="0">
                <a:solidFill>
                  <a:srgbClr val="1B1F17"/>
                </a:solidFill>
                <a:latin typeface="Arial"/>
              </a:rPr>
              <a:t> or one spreadsheet.</a:t>
            </a:r>
            <a:r>
              <a:rPr lang="en-US" sz="4000" b="1" dirty="0">
                <a:solidFill>
                  <a:srgbClr val="1B1F17"/>
                </a:solidFill>
                <a:latin typeface="Arial"/>
              </a:rPr>
              <a:t> We can solve this.</a:t>
            </a:r>
            <a:endParaRPr sz="40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A7264"/>
                </a:solidFill>
                <a:latin typeface="Arial"/>
              </a:rPr>
              <a:t>15/15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1608</Words>
  <Application>Microsoft Macintosh PowerPoint</Application>
  <PresentationFormat>Widescreen</PresentationFormat>
  <Paragraphs>200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Aran Bailey</cp:lastModifiedBy>
  <cp:revision>6</cp:revision>
  <dcterms:created xsi:type="dcterms:W3CDTF">2013-01-27T09:14:16Z</dcterms:created>
  <dcterms:modified xsi:type="dcterms:W3CDTF">2026-08-03T19:30:59Z</dcterms:modified>
  <cp:category/>
</cp:coreProperties>
</file>