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0" r:id="rId3"/>
    <p:sldId id="257" r:id="rId4"/>
    <p:sldId id="258" r:id="rId5"/>
    <p:sldId id="259" r:id="rId6"/>
    <p:sldId id="260" r:id="rId7"/>
    <p:sldId id="263" r:id="rId8"/>
    <p:sldId id="261" r:id="rId9"/>
    <p:sldId id="262" r:id="rId10"/>
    <p:sldId id="264" r:id="rId11"/>
    <p:sldId id="265" r:id="rId12"/>
    <p:sldId id="266" r:id="rId13"/>
    <p:sldId id="271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464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problem. Prototype is the proof; this deck is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this out loud: we are solving “make headcount recon understandable,” not “collect more HR data.” Rooted in a real Utah Head of Finance workflow and follow-up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Client why = time, trust, shared language. Tie every prototype feature back to one of these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BambooHR why = GTM into Finance + stickiness of the close ritual. Quote is primary research — treat as directional, not a win-rate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Emphasize: proprietary contact data was scrubbed. Structure is the point — 4 tabs, dense role rows, monthly columns, formulas. This is why “presentation tools are complicated and nobody understands them.”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bus-factor quote after the comprehension quote. Problem is not only time — institutional knowledge concentrated in one FP&amp;A owner. Product value = shared story so the company is not doomed if that person is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Prefer cohesion + recon-time stats. Cite carefully: Gartner via Kinnect; IJIRMPS for 14→8 days and 45% recon-time cut; PwC 25% discrepancy. Also available: Workday customer claim 60% less manual recon / 50% faster close — use only if you want vendor-sourced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 as a PM operating model: sit with Finance, co-design with HR, pair with Design on comprehension, negotiate with Eng on automation boundaries, and bring Implementation in before 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Honesty: one deep signal + artifact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Partner feedback drove cuts: contractors out; named Marketing −2; pivots; July close vs viewing date; manual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North star: time to understand headcount at a given close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Stay humble on ROI. Point back to market recon-time evidence + partner’s lived spreadsheet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on the bus-factor quote. Takeaway: resilience and shared understanding, not only speed. Offer the live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86000"/>
            <a:ext cx="10058400" cy="122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dirty="0">
                <a:solidFill>
                  <a:srgbClr val="1B1F17"/>
                </a:solidFill>
                <a:latin typeface="Arial"/>
              </a:rPr>
              <a:t>Headcount </a:t>
            </a:r>
            <a:r>
              <a:rPr lang="en-US" sz="4200" b="1" dirty="0">
                <a:solidFill>
                  <a:srgbClr val="1B1F17"/>
                </a:solidFill>
                <a:latin typeface="Arial"/>
              </a:rPr>
              <a:t>Reconciliation</a:t>
            </a:r>
            <a:endParaRPr sz="4200" b="1" dirty="0">
              <a:solidFill>
                <a:srgbClr val="1B1F17"/>
              </a:solidFill>
              <a:latin typeface="Arial"/>
            </a:endParaRPr>
          </a:p>
          <a:p>
            <a:pPr algn="l">
              <a:spcBef>
                <a:spcPts val="1400"/>
              </a:spcBef>
            </a:pPr>
            <a:r>
              <a:rPr sz="2000" b="0" dirty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B1F17"/>
                </a:solidFill>
                <a:latin typeface="Arial"/>
              </a:rPr>
              <a:t>The problem: leaders can’t trust or explain planned vs filled headcount.</a:t>
            </a:r>
          </a:p>
          <a:p>
            <a:pPr algn="l">
              <a:spcBef>
                <a:spcPts val="1000"/>
              </a:spcBef>
            </a:pPr>
            <a:r>
              <a:rPr sz="1800" b="0" dirty="0">
                <a:solidFill>
                  <a:srgbClr val="1B1F17"/>
                </a:solidFill>
                <a:latin typeface="Arial"/>
              </a:rPr>
              <a:t>The bet: make that story clear</a:t>
            </a:r>
            <a:r>
              <a:rPr lang="en-US" sz="18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for Finance,</a:t>
            </a:r>
            <a:r>
              <a:rPr lang="en-US" dirty="0">
                <a:solidFill>
                  <a:srgbClr val="1B1F17"/>
                </a:solidFill>
                <a:latin typeface="Arial"/>
              </a:rPr>
              <a:t> and HR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CCBFDE-C82F-5728-A64E-663B5BD26A48}"/>
              </a:ext>
            </a:extLst>
          </p:cNvPr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4F8F12"/>
                </a:solidFill>
                <a:latin typeface="Arial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2600" b="1" dirty="0">
                <a:solidFill>
                  <a:srgbClr val="1B1F17"/>
                </a:solidFill>
                <a:latin typeface="Arial"/>
              </a:rPr>
              <a:t>What is Headcount Reconciliation?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10972800" cy="18288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32641"/>
            <a:ext cx="103327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2000" b="0" dirty="0">
                <a:solidFill>
                  <a:srgbClr val="1B1F17"/>
                </a:solidFill>
                <a:latin typeface="Arial"/>
              </a:rPr>
              <a:t>Headcount reconciliation is comparing the hiring plan leadership approved to the people actually in roles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explaining any difference.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Approved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29718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 dirty="0">
                <a:solidFill>
                  <a:srgbClr val="6A7264"/>
                </a:solidFill>
                <a:latin typeface="Arial"/>
              </a:rPr>
              <a:t>How many people the company said it would hire or keep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usually locked with the budget.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59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Filled (actual)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How many people are really in those roles as of a specific date (often month-end close).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3840480"/>
            <a:ext cx="297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 dirty="0">
                <a:solidFill>
                  <a:srgbClr val="1B1F17"/>
                </a:solidFill>
                <a:latin typeface="Arial"/>
              </a:rPr>
              <a:t>The recon</a:t>
            </a:r>
            <a:r>
              <a:rPr lang="en-US" sz="1800" b="1" dirty="0">
                <a:solidFill>
                  <a:srgbClr val="1B1F17"/>
                </a:solidFill>
                <a:latin typeface="Arial"/>
              </a:rPr>
              <a:t>ciliation</a:t>
            </a:r>
            <a:endParaRPr sz="18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58200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The work of matching those views, naming gaps, and agreeing on one number Finance and HR can trust.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8076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Why it matters: people are usually the largest operating cost</a:t>
            </a:r>
            <a:r>
              <a:rPr lang="en-US" sz="14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1400" b="0" dirty="0">
                <a:solidFill>
                  <a:srgbClr val="1B1F17"/>
                </a:solidFill>
                <a:latin typeface="Arial"/>
              </a:rPr>
              <a:t> so this number drives hiring, budget, and board conversations.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THE PROBLEM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0"/>
            <a:ext cx="95554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Headcount r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econciliation is critical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but nobody can follow the 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number isn’t trusted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Approved plan, working plan, and filled headcount live in different tabs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often only one Finance owner can rebuild the story.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HR and Finance often have different numbers.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gap isn’t explained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Marketing can be −2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headcount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vs plan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ned headcount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with no named reason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(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not backfilling, role closed, or a pivot to another team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).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B1F17"/>
                </a:solidFill>
                <a:latin typeface="Arial"/>
              </a:rPr>
              <a:t>The date isn’t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Is this as of today or as of month-end close? Without a trusted as-of, every recon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ciliation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rebuilds trust from scratch.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W</a:t>
            </a:r>
            <a:r>
              <a:rPr lang="en-US" sz="1100" b="1" dirty="0">
                <a:solidFill>
                  <a:srgbClr val="4F8F12"/>
                </a:solidFill>
                <a:latin typeface="Arial"/>
              </a:rPr>
              <a:t>HO BENEFITS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With one system, everyone benefits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54879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029199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Leadership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1645919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A headcount number they can trust at close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and that isn’t locked in one person’s head.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274320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Real alignment with Finance on every hire and departure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without spreadsheet ping-pong.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840480"/>
            <a:ext cx="8229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Clear visibility into whether their hiring request is moving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without chasing people.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937759"/>
            <a:ext cx="8229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Confidence the people story holds up for the board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even if a key FP&amp;A owner is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BUSINESS BENEFIT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A product Finance will fight for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not only HR.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Sell Finance easier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Head of Finance: “If this product existed, you would sell the finance department much easier.” Direct GTM signal.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Expand beyond HRIS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77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Headcount recon sits on BambooHR’s source-of-truth. Makes the HRIS the system Finance opens at close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spreadsheet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1F17"/>
                </a:solidFill>
                <a:latin typeface="Arial"/>
              </a:rPr>
              <a:t>Differentiate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4800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dirty="0">
                <a:solidFill>
                  <a:srgbClr val="6A7264"/>
                </a:solidFill>
                <a:latin typeface="Arial"/>
              </a:rPr>
              <a:t>Companies like ADP who have large clients do not have this type of product even though it is a major time commitment and headache for current finance and HR  leaders.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114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Retention &amp;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Once FP&amp;A depends on BambooHR for the monthly story, switching costs rise and seats expand into finance buyers.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WHAT IT LOOKS LIKE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Spreadsheet that only the FP&amp;A leader can follow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866001"/>
            <a:ext cx="9726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6A7264"/>
                </a:solidFill>
                <a:latin typeface="Arial"/>
              </a:rPr>
              <a:t>Fictional Northline data</a:t>
            </a:r>
            <a:r>
              <a:rPr lang="en-US" sz="1200" b="0" dirty="0">
                <a:solidFill>
                  <a:srgbClr val="6A7264"/>
                </a:solidFill>
                <a:latin typeface="Arial"/>
              </a:rPr>
              <a:t>: This is a real spreadsheet from a Head of Finance but with numbers and roles changed to protect confidentiality </a:t>
            </a:r>
            <a:endParaRPr sz="1200" b="0" dirty="0">
              <a:solidFill>
                <a:srgbClr val="6A7264"/>
              </a:solidFill>
              <a:latin typeface="Arial"/>
            </a:endParaRPr>
          </a:p>
        </p:txBody>
      </p:sp>
      <p:pic>
        <p:nvPicPr>
          <p:cNvPr id="7" name="Picture 6" descr="00-current-spread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914400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Five initial hypotheses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B1F17"/>
                </a:solidFill>
                <a:latin typeface="Arial"/>
              </a:rPr>
              <a:t>Wrong default visualization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1508760"/>
            <a:ext cx="6583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dirty="0">
                <a:solidFill>
                  <a:srgbClr val="4F8F12"/>
                </a:solidFill>
                <a:latin typeface="Arial"/>
              </a:rPr>
              <a:t>Leaders can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’t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follow the recon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ciliation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without a specialist walking them through the tabs.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377440"/>
            <a:ext cx="6583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dirty="0">
                <a:solidFill>
                  <a:srgbClr val="4F8F12"/>
                </a:solidFill>
                <a:latin typeface="Arial"/>
              </a:rPr>
              <a:t>Finance and HR 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are on the same terms 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when they say backfill, not backfilling, or pivot.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3246120"/>
            <a:ext cx="6583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dirty="0">
                <a:solidFill>
                  <a:srgbClr val="4F8F12"/>
                </a:solidFill>
                <a:latin typeface="Arial"/>
              </a:rPr>
              <a:t>Mid-cycle changes disappear into one person’s 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spreadsheet or disappear completely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4114799"/>
            <a:ext cx="6583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4F8F12"/>
                </a:solidFill>
                <a:latin typeface="Arial"/>
              </a:rPr>
              <a:t>Nobody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knows whether the number is as of close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, 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or as of today.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4983480"/>
            <a:ext cx="6583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dirty="0">
                <a:solidFill>
                  <a:srgbClr val="4F8F12"/>
                </a:solidFill>
                <a:latin typeface="Arial"/>
              </a:rPr>
              <a:t>The gap is</a:t>
            </a:r>
            <a:r>
              <a:rPr lang="en-US" sz="1400" dirty="0">
                <a:solidFill>
                  <a:srgbClr val="4F8F12"/>
                </a:solidFill>
                <a:latin typeface="Arial"/>
              </a:rPr>
              <a:t> not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readable in one 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pass;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it’s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buried in a grid for authors.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EVIDENCE</a:t>
            </a:r>
            <a:r>
              <a:rPr lang="en-US" sz="1100" b="1" dirty="0">
                <a:solidFill>
                  <a:srgbClr val="4F8F12"/>
                </a:solidFill>
                <a:latin typeface="Arial"/>
              </a:rPr>
              <a:t> – REASONS TO BELIEVE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Interview with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Head of Finance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 at 300 employee company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60020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“Reconciliation is critical, but the presentation tools are 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complicated,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5262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718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172968"/>
            <a:ext cx="1024128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1B1F17"/>
                </a:solidFill>
                <a:latin typeface="Arial"/>
              </a:rPr>
              <a:t>“The problem is I’m the only one that reconciliation relies on. If I got hit by a bus, we’d be doomed”</a:t>
            </a:r>
          </a:p>
          <a:p>
            <a:pPr>
              <a:spcBef>
                <a:spcPts val="1000"/>
              </a:spcBef>
            </a:pPr>
            <a:r>
              <a:rPr sz="1300" b="1" dirty="0">
                <a:solidFill>
                  <a:srgbClr val="4F8F12"/>
                </a:solidFill>
                <a:latin typeface="Arial"/>
              </a:rPr>
              <a:t>— Head of Finance  ·  Key-person / bus</a:t>
            </a:r>
            <a:r>
              <a:rPr lang="en-US" sz="1300" b="1" dirty="0">
                <a:solidFill>
                  <a:srgbClr val="4F8F12"/>
                </a:solidFill>
                <a:latin typeface="Arial"/>
              </a:rPr>
              <a:t>iness</a:t>
            </a:r>
            <a:r>
              <a:rPr sz="1300" b="1" dirty="0">
                <a:solidFill>
                  <a:srgbClr val="4F8F12"/>
                </a:solidFill>
                <a:latin typeface="Arial"/>
              </a:rPr>
              <a:t>-factor risk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4F8F12"/>
                </a:solidFill>
                <a:latin typeface="Arial"/>
              </a:rPr>
              <a:t>EVIDENCE – REASONS TO BELIEVE</a:t>
            </a:r>
          </a:p>
          <a:p>
            <a:pPr algn="l"/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Market 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Research: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HR and Finance still don’t share one headcount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of HR &amp; Finance teams lack shared systems 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Gartner, cited via Kinnect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14 → 8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30632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Without a connected system between HR and Finance </a:t>
            </a:r>
            <a:r>
              <a:rPr lang="en-US" sz="1500" dirty="0">
                <a:solidFill>
                  <a:srgbClr val="1B1F17"/>
                </a:solidFill>
                <a:latin typeface="Arial"/>
              </a:rPr>
              <a:t>headcount reconciliation takes 14 days. With a connected system it takes 8. This is without a product that actively monitors reconciliation </a:t>
            </a:r>
            <a:endParaRPr sz="1500" b="0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 study,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9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92608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average discrepancy between HR and Finance headcount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PwC (2022),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Product Process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Cross-Functional Collaboration is a must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dirty="0">
                <a:solidFill>
                  <a:srgbClr val="6A7264"/>
                </a:solidFill>
                <a:latin typeface="Arial"/>
              </a:rPr>
              <a:t>Some of the teams we need to collaborate with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own the problem statement and the cuts. I keep a visible decision log so Engineering and Design never guess what “done” means.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 (customer + internal FP&amp;A)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063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sit in their close ritual. I learn their words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approved plan, working plan, filled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and pressure-test every screen against a real recon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9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 / People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co-design dispositions inside HR’s flow, not as a Finance bolt-on. If they won’t tag a Tuesday attrition, the product failed.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pair early on the 30-second test: can a first-time user explain the gap? If not, we redesign before we add features.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617720"/>
            <a:ext cx="30632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negotiate automation vs manual update with them. We agree source of truth, audit, and what’s intentionally human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before we write tickets.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9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Implementation / 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9" y="4617720"/>
            <a:ext cx="30632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pull them in before GA. Spreadsheet migration, glossary, and pilot success criteria are product work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surprise for support.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What we have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 where I would continue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Head of Finance conversation (exact quotes)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algn="l"/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Live multi-tab workbook: approved plan / roll-forward / HC recon / net-new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Follow-up: name what’s behind the gap, clear as-of, not backfilling + pivots, drop contractors, tell the story, manual mid-cycle edits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Next five interviews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 (more to follow)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FP&amp;A lead — close ritual &amp; recon hours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HR ops — disposition SLA &amp; ticket path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Hiring manager — request status need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Controller / CFO — board report b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ar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0" dirty="0">
                <a:solidFill>
                  <a:srgbClr val="1B1F17"/>
                </a:solidFill>
                <a:latin typeface="Arial"/>
              </a:rPr>
              <a:t>Implementation lead — spreadsheet migration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Build, Iterate, Launch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Approved plan · filled · named gap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Manual update  ·  Mid-cycle edits systems miss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share-out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4F8F12"/>
                </a:solidFill>
                <a:latin typeface="Arial"/>
              </a:rPr>
              <a:t>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 dirty="0">
                <a:solidFill>
                  <a:srgbClr val="1B1F17"/>
                </a:solidFill>
                <a:latin typeface="Arial"/>
              </a:rPr>
              <a:t>What we built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 —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and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0">
                <a:solidFill>
                  <a:srgbClr val="6A7264"/>
                </a:solidFill>
                <a:latin typeface="Arial"/>
              </a:rPr>
              <a:t>Each feature maps to a clear benefit for Finance and HR.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Company story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4937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Anyone can see plan vs filled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, 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and what’s behind the gap</a:t>
            </a:r>
            <a:r>
              <a:rPr lang="en-US" sz="1400" b="0" dirty="0">
                <a:solidFill>
                  <a:srgbClr val="4F8F12"/>
                </a:solidFill>
                <a:latin typeface="Arial"/>
              </a:rPr>
              <a:t>,</a:t>
            </a:r>
            <a:r>
              <a:rPr sz="1400" b="0" dirty="0">
                <a:solidFill>
                  <a:srgbClr val="4F8F12"/>
                </a:solidFill>
                <a:latin typeface="Arial"/>
              </a:rPr>
              <a:t>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41732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55080" y="141732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Clear as-of 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0574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No confusion between “today” and month-end close.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97180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5800" y="297180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3200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Variance bridge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6118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The −2 is explained in plain steps, not buried in a grid.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97180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297180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3200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Dispositions (backfill / not backfilling / pivot)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Finance and HR share one language for what happened to a role.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52628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754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Manual update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1663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Mid-cycle changes systems miss can still be logged and trusted.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52628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55080" y="4526280"/>
            <a:ext cx="73152" cy="13716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29400" y="4754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B1F17"/>
                </a:solidFill>
                <a:latin typeface="Arial"/>
              </a:rPr>
              <a:t>Approvals + export preview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1663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Requests and the close package live in the same story — not a separate maze.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Measure understanding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. Did this work?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1B1F17"/>
                </a:solidFill>
                <a:latin typeface="Arial"/>
              </a:rPr>
              <a:t>Time to understand H</a:t>
            </a:r>
            <a:r>
              <a:rPr lang="en-US" sz="1500" b="1" dirty="0">
                <a:solidFill>
                  <a:srgbClr val="1B1F17"/>
                </a:solidFill>
                <a:latin typeface="Arial"/>
              </a:rPr>
              <a:t>eadcount</a:t>
            </a:r>
            <a:r>
              <a:rPr sz="1500" b="1" dirty="0">
                <a:solidFill>
                  <a:srgbClr val="1B1F17"/>
                </a:solidFill>
                <a:latin typeface="Arial"/>
              </a:rPr>
              <a:t>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1B1F17"/>
                </a:solidFill>
                <a:latin typeface="Arial"/>
              </a:rPr>
              <a:t>Month-end reconciliation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Speed +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HR–Finance cohesion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 at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drivers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Both personas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Potential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dirty="0">
                <a:solidFill>
                  <a:srgbClr val="6A7264"/>
                </a:solidFill>
                <a:latin typeface="Arial"/>
              </a:rPr>
              <a:t>Modeled for a ~ 300 Employee company</a:t>
            </a:r>
            <a:endParaRPr sz="1300" b="1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4F8F12"/>
                </a:solidFill>
                <a:latin typeface="Arial"/>
              </a:rPr>
              <a:t>Redundancy in place </a:t>
            </a:r>
            <a:endParaRPr sz="2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More than one person can explain the gap, so reconciliation isn’t a single point of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Answers the “hit by a bus” risk from 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Target time to a trusted view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. Saving time and headache for all departments involve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>
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~40–60%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Recon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ciliation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>-time reductions seen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 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>in HRIS–FP&amp;A integration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IJIRMPS / industry pattern —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16/16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4F8F12"/>
                </a:solidFill>
                <a:latin typeface="Arial"/>
              </a:rPr>
              <a:t>KEY 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91440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1B1F17"/>
                </a:solidFill>
                <a:latin typeface="Arial"/>
              </a:rPr>
              <a:t>Headcount recon shouldn’t be complicated, live in one person’s head, or one spreadsheet.</a:t>
            </a:r>
          </a:p>
          <a:p>
            <a:pPr algn="l">
              <a:spcBef>
                <a:spcPts val="1400"/>
              </a:spcBef>
            </a:pPr>
            <a:r>
              <a:rPr sz="1600" b="0">
                <a:solidFill>
                  <a:srgbClr val="6A7264"/>
                </a:solidFill>
                <a:latin typeface="Arial"/>
              </a:rPr>
              <a:t>With Headcount Control Tower, Finance and HR share one clear 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4F8F12"/>
                </a:solidFill>
                <a:latin typeface="Arial"/>
              </a:rPr>
              <a:t>Live prototype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17"/>
                </a:solidFill>
                <a:latin typeface="Arial"/>
              </a:rPr>
              <a:t>headcount-reconciliation.vercel.app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502920"/>
            <a:ext cx="5852160" cy="5669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5-home-cl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640080"/>
            <a:ext cx="5577840" cy="372598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89320" y="589788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6A7264"/>
                </a:solidFill>
                <a:latin typeface="Arial"/>
              </a:rPr>
              <a:t>Prototype home — story, gap drivers, and as-of in one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1911</Words>
  <Application>Microsoft Macintosh PowerPoint</Application>
  <PresentationFormat>Widescreen</PresentationFormat>
  <Paragraphs>223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Aran Bailey</cp:lastModifiedBy>
  <cp:revision>20</cp:revision>
  <dcterms:created xsi:type="dcterms:W3CDTF">2013-01-27T09:14:16Z</dcterms:created>
  <dcterms:modified xsi:type="dcterms:W3CDTF">2026-08-03T20:06:25Z</dcterms:modified>
  <cp:category/>
</cp:coreProperties>
</file>