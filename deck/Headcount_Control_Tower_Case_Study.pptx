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the problem. Prototype is the proof; this deck is why it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this out loud: we are solving “make headcount recon understandable,” not “collect more HR data.” Rooted in a real Utah Head of Finance workflow and follow-up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Client why = time, trust, shared language. Tie every prototype feature back to one of these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BambooHR why = GTM into Finance + stickiness of the close ritual. Quote is primary research — treat as directional, not a win-rate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Emphasize: proprietary contact data was scrubbed. Structure is the point — 4 tabs, dense role rows, monthly columns, formulas. This is why “presentation tools are complicated and nobody understands them.”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Pain = presentation failure. Opportunity = finance buying motion.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Prefer cohesion + recon-time stats. Cite carefully: Gartner via Kinnect; IJIRMPS for 14→8 days and 45% recon-time cut; PwC 25% discrepancy. Also available: Workday customer claim 60% less manual recon / 50% faster close — use only if you want vendor-sourced color.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helped generate; human kept five and mapped each to a UI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 to collaboration style: weekly triad (Product + Eng + Design), office hours with Finance/HR for glossary, Implementation in before GA so spreadsheet migration is a product requirement — not a support surprise.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Honesty: one deep signal + artifact now; structured interviews before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Partner feedback drove cuts: contractors out; named Marketing −2; pivots; July close vs viewing date; manual update.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North star: time to understand headcount at a given close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Stay humble on ROI. Point back to market recon-time evidence + partner’s lived spreadsheet pain.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problem we solve + who wins. Offer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2194560" cy="4709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28600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1B1F17"/>
                </a:solidFill>
                <a:latin typeface="Arial"/>
              </a:rPr>
              <a:t>Headcount Control Tower</a:t>
            </a:r>
          </a:p>
          <a:p>
            <a:pPr algn="l">
              <a:spcBef>
                <a:spcPts val="1400"/>
              </a:spcBef>
            </a:pPr>
            <a:r>
              <a:rPr sz="2000" b="0">
                <a:solidFill>
                  <a:srgbClr val="6A7264"/>
                </a:solidFill>
                <a:latin typeface="Arial"/>
              </a:rPr>
              <a:t>Product discovery case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B1F17"/>
                </a:solidFill>
                <a:latin typeface="Arial"/>
              </a:rPr>
              <a:t>The problem: leaders can’t trust or explain planned vs filled headcount.</a:t>
            </a:r>
          </a:p>
          <a:p>
            <a:pPr algn="l">
              <a:spcBef>
                <a:spcPts val="1000"/>
              </a:spcBef>
            </a:pPr>
            <a:r>
              <a:rPr sz="1800" b="0">
                <a:solidFill>
                  <a:srgbClr val="1B1F17"/>
                </a:solidFill>
                <a:latin typeface="Arial"/>
              </a:rPr>
              <a:t>The bet: make that story clear in 30 seconds — for Finance, HR, and BambooHR.</a:t>
            </a:r>
          </a:p>
          <a:p>
            <a:pPr algn="l">
              <a:spcBef>
                <a:spcPts val="1200"/>
              </a:spcBef>
            </a:pPr>
            <a:r>
              <a:rPr sz="1400" b="0">
                <a:solidFill>
                  <a:srgbClr val="6A7264"/>
                </a:solidFill>
                <a:latin typeface="Arial"/>
              </a:rPr>
              <a:t>AI-augmented discovery  ·  Interactive prototype  ·  Partner review with Head of Finance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THE PROBLEM WE SOLVE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1F17"/>
                </a:solidFill>
                <a:latin typeface="Arial"/>
              </a:rPr>
              <a:t>Reconciliation is critical — but nobody can follow the story.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1720" y="96012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A7264"/>
                </a:solidFill>
                <a:latin typeface="Arial"/>
              </a:rPr>
              <a:t>Not a missing-data problem. A comprehension and alignment problem.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317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B1F17"/>
                </a:solidFill>
                <a:latin typeface="Arial"/>
              </a:rPr>
              <a:t>The number isn’t trusted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108960"/>
            <a:ext cx="2926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A7264"/>
                </a:solidFill>
                <a:latin typeface="Arial"/>
              </a:rPr>
              <a:t>Approved plan, working plan, and filled headcount live in different tabs and systems. Leaders argue whose number is right.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187451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3317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B1F17"/>
                </a:solidFill>
                <a:latin typeface="Arial"/>
              </a:rPr>
              <a:t>The gap isn’t explained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3108960"/>
            <a:ext cx="2926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A7264"/>
                </a:solidFill>
                <a:latin typeface="Arial"/>
              </a:rPr>
              <a:t>Marketing can be −2 vs plan with no named reason — not backfilling, role closed, or a pivot to another team.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79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199" y="187451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199" y="23317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B1F17"/>
                </a:solidFill>
                <a:latin typeface="Arial"/>
              </a:rPr>
              <a:t>The date isn’t clear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199" y="3108960"/>
            <a:ext cx="2926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A7264"/>
                </a:solidFill>
                <a:latin typeface="Arial"/>
              </a:rPr>
              <a:t>Is this as of today or as of month-end close? Without a trusted as-of, every recon rebuilds trust from scratch.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WHY THIS HELPS CLIENTS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1F17"/>
                </a:solidFill>
                <a:latin typeface="Arial"/>
              </a:rPr>
              <a:t>When Finance and HR share one headcount story, the business moves faster.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63040"/>
            <a:ext cx="2286000" cy="96012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3736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Finance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4592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Answer “where are we vs the approved hiring plan?” in one 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16459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Fewer recon threads · faster close · board-ready variance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560320"/>
            <a:ext cx="22860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3464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HR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74320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Log backfill / not backfilling / pivot once — Finance sees it instantly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274320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Less spreadsheet ping-pong · clearer hiring priorities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657600"/>
            <a:ext cx="2286000" cy="96012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93192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Managers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84048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See request status without chasing HR or FP&amp;A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84048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Less tribal knowledge · fewer stalled reqs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754879"/>
            <a:ext cx="22860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029199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Leadership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937759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Trust the as-of date and the named drivers behind every gap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4937759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Decisions on people cost — not debates about the math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WHY THIS HELPS BAMBOOHR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1F17"/>
                </a:solidFill>
                <a:latin typeface="Arial"/>
              </a:rPr>
              <a:t>A product Finance will fight for — not only HR.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544068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1F17"/>
                </a:solidFill>
                <a:latin typeface="Arial"/>
              </a:rPr>
              <a:t>Sell Finance easier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4800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Head of Finance: “If this product existed, you would sell the finance department much easier.” Direct GTM signal.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508760"/>
            <a:ext cx="544068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828800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1F17"/>
                </a:solidFill>
                <a:latin typeface="Arial"/>
              </a:rPr>
              <a:t>Expand beyond HRIS admin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377440"/>
            <a:ext cx="4800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Headcount recon sits on BambooHR’s source-of-truth. Makes the HRIS the system Finance opens at close — not a spreadsheet export.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794760"/>
            <a:ext cx="544068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114800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1F17"/>
                </a:solidFill>
                <a:latin typeface="Arial"/>
              </a:rPr>
              <a:t>Differentiate on trust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663440"/>
            <a:ext cx="4800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Competitors ship workforce charts. The gap is explained variance + shared dispositions + a clear as-of — hard to copy without HR+Finance design.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3794760"/>
            <a:ext cx="544068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4114800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1F17"/>
                </a:solidFill>
                <a:latin typeface="Arial"/>
              </a:rPr>
              <a:t>Retention &amp; expansion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663440"/>
            <a:ext cx="4800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Once FP&amp;A depends on BambooHR for the monthly story, switching costs rise and seats expand into finance buyers.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WHAT IT LOOKS LIKE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1F17"/>
                </a:solidFill>
                <a:latin typeface="Arial"/>
              </a:rPr>
              <a:t>A multi-tab workbook nobody outside FP&amp;A can navigate.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1720" y="96012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A7264"/>
                </a:solidFill>
                <a:latin typeface="Arial"/>
              </a:rPr>
              <a:t>Fictional Northline data — same structure as a real recon (approved plan · roll-forward · HC recon · net-new).</a:t>
            </a:r>
          </a:p>
        </p:txBody>
      </p:sp>
      <p:pic>
        <p:nvPicPr>
          <p:cNvPr id="7" name="Picture 6" descr="00-current-spreadshe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17320"/>
            <a:ext cx="7763069" cy="4754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1F17"/>
                </a:solidFill>
                <a:latin typeface="Arial"/>
              </a:rPr>
              <a:t>Primary research — Head of Finance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54480"/>
            <a:ext cx="10972800" cy="201168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783080"/>
            <a:ext cx="10241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B1F17"/>
                </a:solidFill>
                <a:latin typeface="Arial"/>
              </a:rPr>
              <a:t>“Reconciliation is critical, but the presentation tools are complicated and nobody understands them”</a:t>
            </a:r>
          </a:p>
          <a:p>
            <a:pPr algn="l">
              <a:spcBef>
                <a:spcPts val="1400"/>
              </a:spcBef>
            </a:pPr>
            <a:r>
              <a:rPr sz="1400" b="1">
                <a:solidFill>
                  <a:srgbClr val="4F8F12"/>
                </a:solidFill>
                <a:latin typeface="Arial"/>
              </a:rPr>
              <a:t>— Head of Finance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840480"/>
            <a:ext cx="1097280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069080"/>
            <a:ext cx="10241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B1F17"/>
                </a:solidFill>
                <a:latin typeface="Arial"/>
              </a:rPr>
              <a:t>“If this product existed, you would sell the finance department much easier”</a:t>
            </a:r>
          </a:p>
          <a:p>
            <a:pPr algn="l">
              <a:spcBef>
                <a:spcPts val="1400"/>
              </a:spcBef>
            </a:pPr>
            <a:r>
              <a:rPr sz="1400" b="1">
                <a:solidFill>
                  <a:srgbClr val="4F8F12"/>
                </a:solidFill>
                <a:latin typeface="Arial"/>
              </a:rPr>
              <a:t>— Head of Finance  ·  Direct GTM signal for BambooHR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1F17"/>
                </a:solidFill>
                <a:latin typeface="Arial"/>
              </a:rPr>
              <a:t>Market pattern — HR and Finance still don’t share one headcount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3063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F8F12"/>
                </a:solidFill>
                <a:latin typeface="Arial"/>
              </a:rPr>
              <a:t>72%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3063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of HR &amp; Finance teams lack shared systems for workforce planning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84632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Gartner, cited via Kinnect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920240"/>
            <a:ext cx="3063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F8F12"/>
                </a:solidFill>
                <a:latin typeface="Arial"/>
              </a:rPr>
              <a:t>14 → 8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926080"/>
            <a:ext cx="3063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monthly HR–Finance headcount reconciliation after HRIS–FP&amp;A integration (−43%)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484632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IJIRMPS healthcare case study, 2025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79" y="1920240"/>
            <a:ext cx="3063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F8F12"/>
                </a:solidFill>
                <a:latin typeface="Arial"/>
              </a:rPr>
              <a:t>25%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9" y="2926080"/>
            <a:ext cx="3063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average discrepancy between HR and Finance headcount reports without a unified structure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79" y="484632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PwC (2022), cited in IJIRMPS 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HYPOTHESES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1F17"/>
                </a:solidFill>
                <a:latin typeface="Arial"/>
              </a:rPr>
              <a:t>Five beliefs we designed the prototype to test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508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Cognitive 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5087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Multi-tab recon exceeds working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5087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Story + named gap drivers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28600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4688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3774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Definition debt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3774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Backfill / not backfilling / pivot undefined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Shared disposition tags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15468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3375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2461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No decision object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24612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Mid-cycle changes live only in spreadsheets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32461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Manual update in-product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023359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206239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114799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Time blindness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4114799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Today vs close date confused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4114799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Explicit July close as-of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89204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0749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49834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Wrong default viz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498348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Grids serve authors, not leaders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9834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Bridge tells the story first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HOW I WORK WITH THE COMPANY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1F17"/>
                </a:solidFill>
                <a:latin typeface="Arial"/>
              </a:rPr>
              <a:t>Product owns the problem. Partners own the constraints.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1720" y="96012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A7264"/>
                </a:solidFill>
                <a:latin typeface="Arial"/>
              </a:rPr>
              <a:t>How I’d pull Engineering, Implementation, Design, Finance, and HR into one build — not a handoff chain.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08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Frame the problem, cut scope, keep the decision log. Protect the 30-second story.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08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783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Finance (customer + internal FP&amp;A)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331720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Define approved plan vs working plan vs filled. Validate as-of rules and variance language.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1508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9" y="1783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HR / People ops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9" y="2331720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Own disposition definitions (backfill, not backfilling, pivot) and the approval path.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794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069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Comprehension first. Kill jargon. Test that a new user can read the gap in one pass.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34840" y="3794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63440" y="4069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Engineering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4617720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Source of truth, audit trail, and what can be automated vs what must stay a manual update.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79" y="3794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9" y="4069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Implementation / 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9" y="4617720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How customers adopt at close: glossary, migration from spreadsheets, pilot success criteria.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INTERVIEWS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1F17"/>
                </a:solidFill>
                <a:latin typeface="Arial"/>
              </a:rPr>
              <a:t>What we have — and what we would learn next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539496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In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Head of Finance conversation (exact quotes)</a:t>
            </a:r>
          </a:p>
          <a:p>
            <a:pPr algn="l">
              <a:spcBef>
                <a:spcPts val="1200"/>
              </a:spcBef>
            </a:pPr>
            <a:r>
              <a:rPr sz="1500" b="0">
                <a:solidFill>
                  <a:srgbClr val="1B1F17"/>
                </a:solidFill>
                <a:latin typeface="Arial"/>
              </a:rPr>
              <a:t>Live multi-tab workbook: approved plan / roll-forward / HC recon / net-new</a:t>
            </a:r>
          </a:p>
          <a:p>
            <a:pPr algn="l">
              <a:spcBef>
                <a:spcPts val="1200"/>
              </a:spcBef>
            </a:pPr>
            <a:r>
              <a:rPr sz="1400" b="0">
                <a:solidFill>
                  <a:srgbClr val="1B1F17"/>
                </a:solidFill>
                <a:latin typeface="Arial"/>
              </a:rPr>
              <a:t>Follow-up: name what’s behind the gap, clear as-of, not backfilling + pivots, drop contractors, tell the story, manual mid-cycle edits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212080" cy="429768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7830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Next five interviews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286000"/>
            <a:ext cx="4663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FP&amp;A lead — close ritual &amp; recon hours</a:t>
            </a:r>
          </a:p>
          <a:p>
            <a:pPr algn="l">
              <a:spcBef>
                <a:spcPts val="1200"/>
              </a:spcBef>
            </a:pPr>
            <a:r>
              <a:rPr sz="1500" b="0">
                <a:solidFill>
                  <a:srgbClr val="1B1F17"/>
                </a:solidFill>
                <a:latin typeface="Arial"/>
              </a:rPr>
              <a:t>HR ops — disposition SLA &amp; ticket path</a:t>
            </a:r>
          </a:p>
          <a:p>
            <a:pPr algn="l">
              <a:spcBef>
                <a:spcPts val="1200"/>
              </a:spcBef>
            </a:pPr>
            <a:r>
              <a:rPr sz="1500" b="0">
                <a:solidFill>
                  <a:srgbClr val="1B1F17"/>
                </a:solidFill>
                <a:latin typeface="Arial"/>
              </a:rPr>
              <a:t>Hiring manager — request status needs</a:t>
            </a:r>
          </a:p>
          <a:p>
            <a:pPr algn="l">
              <a:spcBef>
                <a:spcPts val="1200"/>
              </a:spcBef>
            </a:pPr>
            <a:r>
              <a:rPr sz="1500" b="0">
                <a:solidFill>
                  <a:srgbClr val="1B1F17"/>
                </a:solidFill>
                <a:latin typeface="Arial"/>
              </a:rPr>
              <a:t>Controller / CFO — board report bar</a:t>
            </a:r>
          </a:p>
          <a:p>
            <a:pPr algn="l">
              <a:spcBef>
                <a:spcPts val="1200"/>
              </a:spcBef>
            </a:pPr>
            <a:r>
              <a:rPr sz="1500" b="0">
                <a:solidFill>
                  <a:srgbClr val="1B1F17"/>
                </a:solidFill>
                <a:latin typeface="Arial"/>
              </a:rPr>
              <a:t>Implementation lead — spreadsheet migration pain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ITERATIONS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1F17"/>
                </a:solidFill>
                <a:latin typeface="Arial"/>
              </a:rPr>
              <a:t>Ship → show Finance → simplify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Story first  ·  Approved plan · filled · named gap</a:t>
            </a:r>
          </a:p>
        </p:txBody>
      </p:sp>
      <p:pic>
        <p:nvPicPr>
          <p:cNvPr id="8" name="Picture 7" descr="01-home-outlook-t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783080"/>
            <a:ext cx="4535126" cy="187451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55079" y="137160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59" y="14173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Bridge  ·  Backfill · not backfilling · pivot</a:t>
            </a:r>
          </a:p>
        </p:txBody>
      </p:sp>
      <p:pic>
        <p:nvPicPr>
          <p:cNvPr id="11" name="Picture 10" descr="02-bridge-ti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799" y="1783080"/>
            <a:ext cx="4535126" cy="187451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48640" y="384048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886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Manual update  ·  Mid-cycle edits systems miss</a:t>
            </a:r>
          </a:p>
        </p:txBody>
      </p:sp>
      <p:pic>
        <p:nvPicPr>
          <p:cNvPr id="14" name="Picture 13" descr="03-approvals-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4251960"/>
            <a:ext cx="4535126" cy="1874519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355079" y="384048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59" y="3886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Export  ·  Close-ready share-out</a:t>
            </a:r>
          </a:p>
        </p:txBody>
      </p:sp>
      <p:pic>
        <p:nvPicPr>
          <p:cNvPr id="17" name="Picture 16" descr="04-export-ti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799" y="4251960"/>
            <a:ext cx="4535126" cy="187451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SUCCESS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1F17"/>
                </a:solidFill>
                <a:latin typeface="Arial"/>
              </a:rPr>
              <a:t>Measure understanding — tie every metric to the problem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Time to understand HC @ close 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&lt; 30 seconds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Comprehension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508760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34840" y="1508760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1828800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Month-end recon 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5146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Hours → minutes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971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Finance speed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508760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508760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9" y="1828800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Disposition logged on attrition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79" y="25146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% of exits tagged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9" y="2971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HR–Finance cohesion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749039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3749039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069079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Unexplained dept gaps at close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754879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→ 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212079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Named drivers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34840" y="3749039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434840" y="3749039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63440" y="4069079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Variance follow-ups / close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4754879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Fewer threads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5212079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Trust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83879" y="3749039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83879" y="3749039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79" y="4069079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Weekly active Finance + HR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79" y="4754879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Both personas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79" y="5212079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Real use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ILLUSTRATIVE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1F17"/>
                </a:solidFill>
                <a:latin typeface="Arial"/>
              </a:rPr>
              <a:t>Modeled for a ~300-person company — labeled assumptions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A7264"/>
                </a:solidFill>
                <a:latin typeface="Arial"/>
              </a:rPr>
              <a:t>Not a customer ROI claim — a planning model for interview discussion. Validate hours in the next interviews.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2971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F8F12"/>
                </a:solidFill>
                <a:latin typeface="Arial"/>
              </a:rPr>
              <a:t>8–12 hrs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200400"/>
            <a:ext cx="2971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FP&amp;A time / month on recon
before (assumption)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75488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264"/>
                </a:solidFill>
                <a:latin typeface="Arial"/>
              </a:rPr>
              <a:t>Matches multi-tab close ritual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92024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2286000"/>
            <a:ext cx="2971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F8F12"/>
                </a:solidFill>
                <a:latin typeface="Arial"/>
              </a:rPr>
              <a:t>&lt; 30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3200400"/>
            <a:ext cx="2971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Target time to a trusted view
with Control Tower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475488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264"/>
                </a:solidFill>
                <a:latin typeface="Arial"/>
              </a:rPr>
              <a:t>North-star product goal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79" y="192024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199" y="2286000"/>
            <a:ext cx="2971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F8F12"/>
                </a:solidFill>
                <a:latin typeface="Arial"/>
              </a:rPr>
              <a:t>~40–60%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199" y="3200400"/>
            <a:ext cx="2971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Recon-time reductions seen
in HRIS–FP&amp;A integration cases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199" y="475488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264"/>
                </a:solidFill>
                <a:latin typeface="Arial"/>
              </a:rPr>
              <a:t>IJIRMPS / industry pattern — validate in 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88720"/>
            <a:ext cx="2011680" cy="43173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1031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1F17"/>
                </a:solidFill>
                <a:latin typeface="Arial"/>
              </a:rPr>
              <a:t>Solve the story gap.
Make headcount recon understandable in 30 seconds.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4048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B1F17"/>
                </a:solidFill>
                <a:latin typeface="Arial"/>
              </a:rPr>
              <a:t>Clients get trust and speed. BambooHR gets a Finance buyer who needs the HRIS at close.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rgbClr val="1B1F17"/>
                </a:solidFill>
                <a:latin typeface="Arial"/>
              </a:rPr>
              <a:t>Problem → client why → BambooHR why → evidence → build with partners → measure.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4F8F12"/>
                </a:solidFill>
                <a:latin typeface="Arial"/>
              </a:rPr>
              <a:t>AI accelerated discovery. Judgment — and Finance partner review — drove the calls.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669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Live prototype in README  ·  Next: 5 interviews + one close pilot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