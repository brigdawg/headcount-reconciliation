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0"/>
  </p:normalViewPr>
  <p:slideViewPr>
    <p:cSldViewPr snapToGrid="0" snapToObjects="1">
      <p:cViewPr>
        <p:scale>
          <a:sx n="89" d="100"/>
          <a:sy n="89" d="100"/>
        </p:scale>
        <p:origin x="1336" y="4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464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on the problem. Prototype is the proof; this deck is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 this out loud: we are solving “make headcount recon understandable,” not “collect more HR data.” Rooted in a real Utah Head of Finance workflow and follow-up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Client why = time, trust, shared language. Tie every prototype feature back to one of these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BambooHR why = GTM into Finance + stickiness of the close ritual. Quote is primary research — treat as directional, not a win-rate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Emphasize: proprietary contact data was scrubbed. Structure is the point — 4 tabs, dense role rows, monthly columns, formulas. This is why “presentation tools are complicated and nobody understands them.”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bus-factor quote after the comprehension quote. Problem is not only time — institutional knowledge concentrated in one FP&amp;A owner. Product value = shared story so the company is not doomed if that person is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Prefer cohesion + recon-time stats. Cite carefully: Gartner via Kinnect; IJIRMPS for 14→8 days and 45% recon-time cut; PwC 25% discrepancy. Also available: Workday customer claim 60% less manual recon / 50% faster close — use only if you want vendor-sourced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to collaboration style: weekly triad (Product + Eng + Design), office hours with Finance/HR for glossary, Implementation in before GA so spreadsheet migration is a product requirement — not a support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Honesty: one deep signal + artifact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Partner feedback drove cuts: contractors out; named Marketing −2; pivots; July close vs viewing date; manual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North star: time to understand headcount at a given close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Stay humble on ROI. Point back to market recon-time evidence + partner’s lived spreadsheet pain.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on the problem we solve + who wins. Offer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B1F17"/>
                </a:solidFill>
                <a:latin typeface="Arial"/>
              </a:rPr>
              <a:t>Headcount Control Tower</a:t>
            </a:r>
          </a:p>
          <a:p>
            <a:pPr algn="l">
              <a:spcBef>
                <a:spcPts val="1400"/>
              </a:spcBef>
            </a:pPr>
            <a:r>
              <a:rPr sz="2000" b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058400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1B1F17"/>
                </a:solidFill>
                <a:latin typeface="Arial"/>
              </a:rPr>
              <a:t>The problem: leaders can’t trust or explain planned vs filled headcount.</a:t>
            </a:r>
          </a:p>
          <a:p>
            <a:pPr algn="l">
              <a:spcBef>
                <a:spcPts val="1000"/>
              </a:spcBef>
            </a:pPr>
            <a:r>
              <a:rPr sz="1800" b="0" dirty="0">
                <a:solidFill>
                  <a:srgbClr val="1B1F17"/>
                </a:solidFill>
                <a:latin typeface="Arial"/>
              </a:rPr>
              <a:t>The bet: make that story clear in 30 seconds</a:t>
            </a:r>
            <a:r>
              <a:rPr lang="en-US" sz="1800" b="0" dirty="0">
                <a:solidFill>
                  <a:srgbClr val="1B1F17"/>
                </a:solidFill>
                <a:latin typeface="Arial"/>
              </a:rPr>
              <a:t>, 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for Finance,</a:t>
            </a:r>
            <a:r>
              <a:rPr lang="en-US" dirty="0">
                <a:solidFill>
                  <a:srgbClr val="1B1F17"/>
                </a:solidFill>
                <a:latin typeface="Arial"/>
              </a:rPr>
              <a:t> and HR</a:t>
            </a:r>
            <a:r>
              <a:rPr sz="1800" b="0" dirty="0">
                <a:solidFill>
                  <a:srgbClr val="1B1F1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>
                <a:solidFill>
                  <a:srgbClr val="4F8F12"/>
                </a:solidFill>
                <a:latin typeface="Arial"/>
              </a:rPr>
              <a:t>THE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57200"/>
            <a:ext cx="95554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Headcount r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econciliation is critical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but nobody can follow the story.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number isn’t 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Approved plan, working plan, and filled headcount live in different tabs — often only one Finance owner can rebuild the 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gap isn’t explained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Marketing can be −2 vs plan with no named reason — not backfilling, role closed, or a pivot to another team.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3317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B1F17"/>
                </a:solidFill>
                <a:latin typeface="Arial"/>
              </a:rPr>
              <a:t>The date isn’t 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310896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Is this as of today or as of month-end close? Without a trusted as-of, every recon rebuilds trust from scratch.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CLIENTS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When Finance and HR share one headcount story, the business moves faster.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45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Answer “where are we vs the approved hiring plan?” in one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6459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Fewer recon threads · board-ready variance · knowledge not trapped in one 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43200"/>
            <a:ext cx="4846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Log backfill / not backfilling / pivot once</a:t>
            </a:r>
            <a:r>
              <a:rPr lang="en-US" sz="1500" b="0" dirty="0">
                <a:solidFill>
                  <a:srgbClr val="1B1F17"/>
                </a:solidFill>
                <a:latin typeface="Arial"/>
              </a:rPr>
              <a:t>,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> Finance sees it instantly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43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Less spreadsheet ping-pong · clearer hiring priorities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93192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04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See request status without chasing HR or FP&amp;A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40480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Less tribal knowledge · fewer stalled req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uirement</a:t>
            </a:r>
            <a:r>
              <a:rPr sz="1400" b="1" dirty="0">
                <a:solidFill>
                  <a:srgbClr val="4F8F12"/>
                </a:solidFill>
                <a:latin typeface="Arial"/>
              </a:rPr>
              <a:t>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754879"/>
            <a:ext cx="22860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029199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Leadership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93775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Trust the as-of date and named drivers — even if the FP&amp;A owner is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937759"/>
            <a:ext cx="33832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Business continuity · decisions on people cost, not one person’s spreadsheet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/>
            </a:r>
            <a:r>
              <a:rPr sz="1400" b="1" dirty="0">
                <a:solidFill>
                  <a:srgbClr val="4F8F12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THIS HELPS BAMBOOHR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A product Finance will fight for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not only HR.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Sell Finance easier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Head of Finance: “If this product existed, you would sell the finance department much easier.” Direct GTM signal.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508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Expand beyond HRIS 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77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Headcount recon sits on BambooHR’s source-of-truth. Makes the HRIS the system Finance opens at close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,</a:t>
            </a:r>
            <a:r>
              <a:rPr sz="1400" b="0" dirty="0">
                <a:solidFill>
                  <a:srgbClr val="6A7264"/>
                </a:solidFill>
                <a:latin typeface="Arial"/>
              </a:rPr>
              <a:t> not a spreadsheet export.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80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1F17"/>
                </a:solidFill>
                <a:latin typeface="Arial"/>
              </a:rPr>
              <a:t>Differentiate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48006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dirty="0">
                <a:solidFill>
                  <a:srgbClr val="6A7264"/>
                </a:solidFill>
                <a:latin typeface="Arial"/>
              </a:rPr>
              <a:t>Companies like ADP who have large clients do not have this type of product even though it is a major time commitment for current finance leaders.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1148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1F17"/>
                </a:solidFill>
                <a:latin typeface="Arial"/>
              </a:rPr>
              <a:t>Retention &amp; 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Once FP&amp;A depends on BambooHR for the monthly story, switching costs rise and seats expand into finance buyers.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WHAT IT LOOKS LIKE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1F17"/>
                </a:solidFill>
                <a:latin typeface="Arial"/>
              </a:rPr>
              <a:t>A multi-tab workbook only one Finance owner can truly navigate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866001"/>
            <a:ext cx="97269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6A7264"/>
                </a:solidFill>
                <a:latin typeface="Arial"/>
              </a:rPr>
              <a:t>Fictional Northline data — </a:t>
            </a:r>
            <a:r>
              <a:rPr lang="en-US" sz="1500" b="0" dirty="0">
                <a:solidFill>
                  <a:srgbClr val="6A7264"/>
                </a:solidFill>
                <a:latin typeface="Arial"/>
              </a:rPr>
              <a:t>This is a real spreadsheet from a Head of Finance but with numbers and roles changed to protect confidentiality 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pic>
        <p:nvPicPr>
          <p:cNvPr id="7" name="Picture 6" descr="00-current-spread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7763069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Interview with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Head of Finance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 at 300 employee company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0020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“Reconciliation is critical, but the presentation tools are complicated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5262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718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172968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B1F17"/>
                </a:solidFill>
                <a:latin typeface="Arial"/>
              </a:rPr>
              <a:t>“The problem is I’m the only one that reconciliation relies on. If I got hit by a bus, we’d be doomed”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4F8F12"/>
                </a:solidFill>
                <a:latin typeface="Arial"/>
              </a:rPr>
              <a:t>— Head of Finance  ·  Key-person / bus-factor risk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Market 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Research</a:t>
            </a:r>
            <a:r>
              <a:rPr sz="2600" b="1" dirty="0">
                <a:solidFill>
                  <a:srgbClr val="1B1F17"/>
                </a:solidFill>
                <a:latin typeface="Arial"/>
              </a:rPr>
              <a:t> — HR and Finance still don’t share one headcount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of HR &amp; Finance teams lack shared systems 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Gartner, cited via Kinnect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14 → 8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926080"/>
            <a:ext cx="30632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Without a connected system between HR and Finance </a:t>
            </a:r>
            <a:r>
              <a:rPr lang="en-US" sz="1500" dirty="0">
                <a:solidFill>
                  <a:srgbClr val="1B1F17"/>
                </a:solidFill>
                <a:latin typeface="Arial"/>
              </a:rPr>
              <a:t>headcount reconciliation takes 14 days. With a connected system it takes 8. This is without a product that actively monitors reconciliation </a:t>
            </a:r>
            <a:endParaRPr sz="1500" b="0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 study,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9" y="192024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926080"/>
            <a:ext cx="3063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average discrepancy between HR and Finance headcount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484632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PwC (2022),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Five initial hypotheses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gap drivers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Shared disposition tags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A7264"/>
                </a:solidFill>
                <a:latin typeface="Arial"/>
              </a:rPr>
              <a:t>Mid-cycle changes live only in spreadsheets</a:t>
            </a:r>
            <a:r>
              <a:rPr lang="en-US" sz="1400" b="0" dirty="0">
                <a:solidFill>
                  <a:srgbClr val="6A7264"/>
                </a:solidFill>
                <a:latin typeface="Arial"/>
              </a:rPr>
              <a:t> an not accessible </a:t>
            </a:r>
            <a:endParaRPr sz="14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Manual update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s required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4F8F12"/>
                </a:solidFill>
                <a:latin typeface="Arial"/>
              </a:rPr>
              <a:t>Explicit </a:t>
            </a:r>
            <a:r>
              <a:rPr lang="en-US" sz="1400" b="1" dirty="0">
                <a:solidFill>
                  <a:srgbClr val="4F8F12"/>
                </a:solidFill>
                <a:latin typeface="Arial"/>
              </a:rPr>
              <a:t>as-of dates / real time data</a:t>
            </a:r>
            <a:endParaRPr sz="1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B1F17"/>
                </a:solidFill>
                <a:latin typeface="Arial"/>
              </a:rPr>
              <a:t>Wrong default </a:t>
            </a:r>
            <a:r>
              <a:rPr sz="1600" b="1" dirty="0" err="1">
                <a:solidFill>
                  <a:srgbClr val="1B1F17"/>
                </a:solidFill>
                <a:latin typeface="Arial"/>
              </a:rPr>
              <a:t>viz</a:t>
            </a:r>
            <a:r>
              <a:rPr lang="en-US" sz="1600" b="1" dirty="0" err="1">
                <a:solidFill>
                  <a:srgbClr val="1B1F17"/>
                </a:solidFill>
                <a:latin typeface="Arial"/>
              </a:rPr>
              <a:t>ualization</a:t>
            </a:r>
            <a:endParaRPr sz="1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dirty="0">
                <a:solidFill>
                  <a:srgbClr val="4F8F12"/>
                </a:solidFill>
                <a:latin typeface="Arial"/>
              </a:rPr>
              <a:t>Product Process</a:t>
            </a:r>
            <a:endParaRPr sz="11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Cross-Functional Collaboration is a must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31720" y="9601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6A7264"/>
                </a:solidFill>
                <a:latin typeface="Arial"/>
              </a:rPr>
              <a:t>We support one another in all areas</a:t>
            </a:r>
            <a:endParaRPr sz="1500" b="0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Frame the problem, cut scope, keep the decision log. Protect the 30-second story.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 (customer + internal FP&amp;A)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Define approved plan vs working plan vs filled. Validate as-of rules and variance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08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9" y="1783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 / People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9" y="2331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Own disposition definitions (backfill, not backfilling, pivot) and the approval path.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Comprehension first. Kill jargon. Test that a new user can read the gap in one pass.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0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Source of truth, audit trail, and what can be automated vs what must stay a manual update.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3794760"/>
            <a:ext cx="352044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79" y="406908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Implementation / 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9" y="4617720"/>
            <a:ext cx="3063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How customers adopt at close: glossary, migration from spreadsheets, pilot success criteria.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What we have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, where I would continue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Head of Finance conversation (exact quotes)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Live multi-tab workbook: approved plan / roll-forward / HC recon / net-new</a:t>
            </a:r>
          </a:p>
          <a:p>
            <a:pPr algn="l">
              <a:spcBef>
                <a:spcPts val="1200"/>
              </a:spcBef>
            </a:pPr>
            <a:r>
              <a:rPr sz="1400" b="0">
                <a:solidFill>
                  <a:srgbClr val="1B1F17"/>
                </a:solidFill>
                <a:latin typeface="Arial"/>
              </a:rPr>
              <a:t>Follow-up: name what’s behind the gap, clear as-of, not backfilling + pivots, drop contractors, tell the story, manual mid-cycle edits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lead — close ritual &amp; recon hours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HR ops — disposition SLA &amp; ticket path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Hiring manager — request status needs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Controller / CFO — board report bar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Implementation lead — spreadsheet migration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Build, Iterate, Launch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Approved plan · filled · named gap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share-out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B1F17"/>
                </a:solidFill>
                <a:latin typeface="Arial"/>
              </a:rPr>
              <a:t>Measure understanding</a:t>
            </a:r>
            <a:r>
              <a:rPr lang="en-US" sz="2600" b="1" dirty="0">
                <a:solidFill>
                  <a:srgbClr val="1B1F17"/>
                </a:solidFill>
                <a:latin typeface="Arial"/>
              </a:rPr>
              <a:t>. Did this work? </a:t>
            </a:r>
            <a:endParaRPr sz="2600" b="1" dirty="0">
              <a:solidFill>
                <a:srgbClr val="1B1F17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Speed +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HR–Finance cohesion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 at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drivers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Both personas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B1F17"/>
                </a:solidFill>
                <a:latin typeface="Arial"/>
              </a:rPr>
              <a:t>Potential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6A7264"/>
                </a:solidFill>
                <a:latin typeface="Arial"/>
              </a:rPr>
              <a:t>Modeled for a ~ 300 Employee company</a:t>
            </a:r>
            <a:endParaRPr sz="1300" b="1" dirty="0">
              <a:solidFill>
                <a:srgbClr val="6A7264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dirty="0">
                <a:solidFill>
                  <a:srgbClr val="4F8F12"/>
                </a:solidFill>
                <a:latin typeface="Arial"/>
              </a:rPr>
              <a:t>Redundancy in place </a:t>
            </a:r>
            <a:endParaRPr sz="2400" b="1" dirty="0">
              <a:solidFill>
                <a:srgbClr val="4F8F12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500" b="0" dirty="0">
                <a:solidFill>
                  <a:srgbClr val="1B1F17"/>
                </a:solidFill>
                <a:latin typeface="Arial"/>
              </a:rPr>
              <a:t>More than one person can explain the gap — so recon isn’t a single point of failure</a:t>
            </a:r>
            <a:r>
              <a:rPr sz="1500" b="0" dirty="0">
                <a:solidFill>
                  <a:srgbClr val="1B1F17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Answers the “hit by a bus” risk from Finance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1B1F17"/>
                </a:solidFill>
                <a:latin typeface="Arial"/>
              </a:rPr>
              <a:t>Target time to a trusted view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4F8F12"/>
                </a:solidFill>
                <a:latin typeface="Arial"/>
              </a:rPr>
              <a:t>~40–60%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Recon-time reductions seen
in HRIS–FP&amp;A integration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IJIRMPS / industry pattern —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88720"/>
            <a:ext cx="2011680" cy="431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B1F17"/>
                </a:solidFill>
                <a:latin typeface="Arial"/>
              </a:rPr>
              <a:t>Solve the story gap.
Make headcount recon understandable in 30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Clients get trust and speed. BambooHR gets a Finance buyer who needs the HRIS at close.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B1F17"/>
                </a:solidFill>
                <a:latin typeface="Arial"/>
              </a:rPr>
              <a:t>Problem → client why → BambooHR why → evidence → build with partners → measure.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>AI accelerated discovery. Judgment — and Finance partner review — drove the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Live prototype in README  ·  Next: 5 interviews + one close 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1502</Words>
  <Application>Microsoft Macintosh PowerPoint</Application>
  <PresentationFormat>Widescreen</PresentationFormat>
  <Paragraphs>189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Aran Bailey</cp:lastModifiedBy>
  <cp:revision>2</cp:revision>
  <dcterms:created xsi:type="dcterms:W3CDTF">2013-01-27T09:14:16Z</dcterms:created>
  <dcterms:modified xsi:type="dcterms:W3CDTF">2026-08-03T19:10:09Z</dcterms:modified>
  <cp:category/>
</cp:coreProperties>
</file>