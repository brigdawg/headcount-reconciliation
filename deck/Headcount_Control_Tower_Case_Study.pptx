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7"/>
  </p:notesMasterIdLst>
  <p:sldIdLst>
    <p:sldId id="256" r:id="rId2"/>
    <p:sldId id="270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71" r:id="rId22"/>
    <p:sldId id="267" r:id="rId14"/>
    <p:sldId id="268" r:id="rId15"/>
    <p:sldId id="269" r:id="rId16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11"/>
    <p:restoredTop sz="94660"/>
  </p:normalViewPr>
  <p:slideViewPr>
    <p:cSldViewPr snapToGrid="0" snapToObjects="1">
      <p:cViewPr varScale="1">
        <p:scale>
          <a:sx n="100" d="100"/>
          <a:sy n="100" d="100"/>
        </p:scale>
        <p:origin x="904" y="17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Relationship Id="rId22" Type="http://schemas.openxmlformats.org/officeDocument/2006/relationships/slide" Target="slides/slide1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43246414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Open on the problem. Prototype is the proof; this deck is why it matters.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Say this out loud: we are solving “make headcount recon understandable,” not “collect more HR data.” Rooted in a real Utah Head of Finance workflow and follow-up review.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Client why = time, trust, shared language. Tie every prototype feature back to one of these rows.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BambooHR why = GTM into Finance + stickiness of the close ritual. Quote is primary research — treat as directional, not a win-rate claim.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Emphasize: proprietary contact data was scrubbed. Structure is the point — 4 tabs, dense role rows, monthly columns, formulas. This is why “presentation tools are complicated and nobody understands them.”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Lead with the bus-factor quote after the comprehension quote. Problem is not only time — institutional knowledge concentrated in one FP&amp;A owner. Product value = shared story so the company is not doomed if that person is out.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Prefer cohesion + recon-time stats. Cite carefully: Gartner via Kinnect; IJIRMPS for 14→8 days and 45% recon-time cut; PwC 25% discrepancy. Also available: Workday customer claim 60% less manual recon / 50% faster close — use only if you want vendor-sourced color.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AI helped generate; human kept five and mapped each to a UI test.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Speak as a PM operating model: sit with Finance, co-design with HR, pair with Design on comprehension, negotiate with Eng on automation boundaries, and bring Implementation in before GA.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Honesty: one deep signal + artifact now; structured interviews before scale.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Partner feedback drove cuts: contractors out; named Marketing −2; pivots; July close vs viewing date; manual update.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North star: time to understand headcount at a given close date.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Stay humble on ROI. Point back to market recon-time evidence + partner’s lived spreadsheet pain.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End on the bus-factor quote. Takeaway: resilience and shared understanding, not only speed. Offer the live prototype.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73C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bamboohr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1371600"/>
            <a:ext cx="2194560" cy="47097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22960" y="2286000"/>
            <a:ext cx="10058400" cy="12259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200" b="1" dirty="0">
                <a:solidFill>
                  <a:srgbClr val="1B1F17"/>
                </a:solidFill>
                <a:latin typeface="Arial"/>
              </a:rPr>
              <a:t>Headcount </a:t>
            </a:r>
            <a:r>
              <a:rPr lang="en-US" sz="4200" b="1" dirty="0">
                <a:solidFill>
                  <a:srgbClr val="1B1F17"/>
                </a:solidFill>
                <a:latin typeface="Arial"/>
              </a:rPr>
              <a:t>Reconciliation</a:t>
            </a:r>
            <a:endParaRPr sz="4200" b="1" dirty="0">
              <a:solidFill>
                <a:srgbClr val="1B1F17"/>
              </a:solidFill>
              <a:latin typeface="Arial"/>
            </a:endParaRPr>
          </a:p>
          <a:p>
            <a:pPr algn="l">
              <a:spcBef>
                <a:spcPts val="1400"/>
              </a:spcBef>
            </a:pPr>
            <a:r>
              <a:rPr sz="2000" b="0" dirty="0">
                <a:solidFill>
                  <a:srgbClr val="6A7264"/>
                </a:solidFill>
                <a:latin typeface="Arial"/>
              </a:rPr>
              <a:t>Product discovery case study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023360"/>
            <a:ext cx="10058400" cy="77457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dirty="0">
                <a:solidFill>
                  <a:srgbClr val="1B1F17"/>
                </a:solidFill>
                <a:latin typeface="Arial"/>
              </a:rPr>
              <a:t>The problem: leaders can’t trust or explain planned vs filled headcount.</a:t>
            </a:r>
          </a:p>
          <a:p>
            <a:pPr algn="l">
              <a:spcBef>
                <a:spcPts val="1000"/>
              </a:spcBef>
            </a:pPr>
            <a:r>
              <a:rPr sz="1800" b="0" dirty="0">
                <a:solidFill>
                  <a:srgbClr val="1B1F17"/>
                </a:solidFill>
                <a:latin typeface="Arial"/>
              </a:rPr>
              <a:t>The bet: make that story clear in 30 seconds</a:t>
            </a:r>
            <a:r>
              <a:rPr lang="en-US" sz="1800" b="0" dirty="0">
                <a:solidFill>
                  <a:srgbClr val="1B1F17"/>
                </a:solidFill>
                <a:latin typeface="Arial"/>
              </a:rPr>
              <a:t>, </a:t>
            </a:r>
            <a:r>
              <a:rPr sz="1800" b="0" dirty="0">
                <a:solidFill>
                  <a:srgbClr val="1B1F17"/>
                </a:solidFill>
                <a:latin typeface="Arial"/>
              </a:rPr>
              <a:t>for Finance,</a:t>
            </a:r>
            <a:r>
              <a:rPr lang="en-US" dirty="0">
                <a:solidFill>
                  <a:srgbClr val="1B1F17"/>
                </a:solidFill>
                <a:latin typeface="Arial"/>
              </a:rPr>
              <a:t> and HR</a:t>
            </a:r>
            <a:r>
              <a:rPr sz="1800" b="0" dirty="0">
                <a:solidFill>
                  <a:srgbClr val="1B1F17"/>
                </a:solidFill>
                <a:latin typeface="Arial"/>
              </a:rPr>
              <a:t>.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BCCBFDE-C82F-5728-A64E-663B5BD26A48}"/>
              </a:ext>
            </a:extLst>
          </p:cNvPr>
          <p:cNvSpPr txBox="1"/>
          <p:nvPr/>
        </p:nvSpPr>
        <p:spPr>
          <a:xfrm>
            <a:off x="685800" y="6537960"/>
            <a:ext cx="9144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dirty="0">
                <a:solidFill>
                  <a:srgbClr val="6A7264"/>
                </a:solidFill>
                <a:latin typeface="Arial"/>
              </a:rPr>
              <a:t>BambooHR interview case study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73C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256032"/>
            <a:ext cx="1417320" cy="30417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331720" y="228600"/>
            <a:ext cx="9144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</a:pPr>
            <a:r>
              <a:rPr sz="1100" b="1">
                <a:solidFill>
                  <a:srgbClr val="4F8F12"/>
                </a:solidFill>
                <a:latin typeface="Arial"/>
              </a:rPr>
              <a:t>BACKGROUND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331720" y="457200"/>
            <a:ext cx="9326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</a:pPr>
            <a:r>
              <a:rPr lang="en-US" sz="2600" b="1" dirty="0">
                <a:solidFill>
                  <a:srgbClr val="1B1F17"/>
                </a:solidFill>
                <a:latin typeface="Arial"/>
              </a:rPr>
              <a:t>What is Headcount Reconciliation? </a:t>
            </a:r>
            <a:endParaRPr sz="2600" b="1" dirty="0">
              <a:solidFill>
                <a:srgbClr val="1B1F17"/>
              </a:solidFill>
              <a:latin typeface="Arial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2331720" y="960120"/>
            <a:ext cx="9326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</a:pPr>
            <a:r>
              <a:rPr sz="1500" b="0" dirty="0">
                <a:solidFill>
                  <a:srgbClr val="6A7264"/>
                </a:solidFill>
                <a:latin typeface="Arial"/>
              </a:rPr>
              <a:t>A 60-second primer before we get into the problem.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508760"/>
            <a:ext cx="10972800" cy="1828800"/>
          </a:xfrm>
          <a:prstGeom prst="roundRect">
            <a:avLst>
              <a:gd name="adj" fmla="val 6000"/>
            </a:avLst>
          </a:prstGeom>
          <a:solidFill>
            <a:srgbClr val="F3F8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005840" y="2032641"/>
            <a:ext cx="10332720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</a:pPr>
            <a:r>
              <a:rPr sz="2000" b="0" dirty="0">
                <a:solidFill>
                  <a:srgbClr val="1B1F17"/>
                </a:solidFill>
                <a:latin typeface="Arial"/>
              </a:rPr>
              <a:t>Headcount reconciliation is comparing the hiring plan leadership approved to the people actually in roles</a:t>
            </a:r>
            <a:r>
              <a:rPr lang="en-US" sz="2000" b="0" dirty="0">
                <a:solidFill>
                  <a:srgbClr val="1B1F17"/>
                </a:solidFill>
                <a:latin typeface="Arial"/>
              </a:rPr>
              <a:t>,</a:t>
            </a:r>
            <a:r>
              <a:rPr sz="2000" b="0" dirty="0">
                <a:solidFill>
                  <a:srgbClr val="1B1F17"/>
                </a:solidFill>
                <a:latin typeface="Arial"/>
              </a:rPr>
              <a:t> and explaining any difference.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3611880"/>
            <a:ext cx="3520440" cy="23317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E6EA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960120" y="3840480"/>
            <a:ext cx="2971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</a:pPr>
            <a:r>
              <a:rPr sz="1800" b="1">
                <a:solidFill>
                  <a:srgbClr val="1B1F17"/>
                </a:solidFill>
                <a:latin typeface="Arial"/>
              </a:rPr>
              <a:t>Approved plan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4343400"/>
            <a:ext cx="2971800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</a:pPr>
            <a:r>
              <a:rPr sz="1400" b="0" dirty="0">
                <a:solidFill>
                  <a:srgbClr val="6A7264"/>
                </a:solidFill>
                <a:latin typeface="Arial"/>
              </a:rPr>
              <a:t>How many people the company said it would hire or keep</a:t>
            </a:r>
            <a:r>
              <a:rPr lang="en-US" sz="1400" b="0" dirty="0">
                <a:solidFill>
                  <a:srgbClr val="6A7264"/>
                </a:solidFill>
                <a:latin typeface="Arial"/>
              </a:rPr>
              <a:t>, </a:t>
            </a:r>
            <a:r>
              <a:rPr sz="1400" b="0" dirty="0">
                <a:solidFill>
                  <a:srgbClr val="6A7264"/>
                </a:solidFill>
                <a:latin typeface="Arial"/>
              </a:rPr>
              <a:t> usually locked with the budget.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434840" y="3611880"/>
            <a:ext cx="3520440" cy="23317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E6EA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709159" y="3840480"/>
            <a:ext cx="2971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</a:pPr>
            <a:r>
              <a:rPr sz="1800" b="1">
                <a:solidFill>
                  <a:srgbClr val="1B1F17"/>
                </a:solidFill>
                <a:latin typeface="Arial"/>
              </a:rPr>
              <a:t>Filled (actual)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09159" y="4343400"/>
            <a:ext cx="29718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</a:pPr>
            <a:r>
              <a:rPr sz="1400" b="0">
                <a:solidFill>
                  <a:srgbClr val="6A7264"/>
                </a:solidFill>
                <a:latin typeface="Arial"/>
              </a:rPr>
              <a:t>How many people are really in those roles as of a specific date (often month-end close).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83879" y="3611880"/>
            <a:ext cx="3520440" cy="23317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E6EA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458200" y="3840480"/>
            <a:ext cx="29718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</a:pPr>
            <a:r>
              <a:rPr sz="1800" b="1" dirty="0">
                <a:solidFill>
                  <a:srgbClr val="1B1F17"/>
                </a:solidFill>
                <a:latin typeface="Arial"/>
              </a:rPr>
              <a:t>The recon</a:t>
            </a:r>
            <a:r>
              <a:rPr lang="en-US" sz="1800" b="1" dirty="0">
                <a:solidFill>
                  <a:srgbClr val="1B1F17"/>
                </a:solidFill>
                <a:latin typeface="Arial"/>
              </a:rPr>
              <a:t>ciliation</a:t>
            </a:r>
            <a:endParaRPr sz="1800" b="1" dirty="0">
              <a:solidFill>
                <a:srgbClr val="1B1F17"/>
              </a:solidFill>
              <a:latin typeface="Arial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8458200" y="4343400"/>
            <a:ext cx="29718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</a:pPr>
            <a:r>
              <a:rPr sz="1400" b="0">
                <a:solidFill>
                  <a:srgbClr val="6A7264"/>
                </a:solidFill>
                <a:latin typeface="Arial"/>
              </a:rPr>
              <a:t>The work of matching those views, naming gaps, and agreeing on one number Finance and HR can trust.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6080760"/>
            <a:ext cx="109728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</a:pPr>
            <a:r>
              <a:rPr sz="1400" b="0" dirty="0">
                <a:solidFill>
                  <a:srgbClr val="1B1F17"/>
                </a:solidFill>
                <a:latin typeface="Arial"/>
              </a:rPr>
              <a:t>Why it matters: people are usually the largest operating cost</a:t>
            </a:r>
            <a:r>
              <a:rPr lang="en-US" sz="1400" b="0" dirty="0">
                <a:solidFill>
                  <a:srgbClr val="1B1F17"/>
                </a:solidFill>
                <a:latin typeface="Arial"/>
              </a:rPr>
              <a:t>,</a:t>
            </a:r>
            <a:r>
              <a:rPr sz="1400" b="0" dirty="0">
                <a:solidFill>
                  <a:srgbClr val="1B1F17"/>
                </a:solidFill>
                <a:latin typeface="Arial"/>
              </a:rPr>
              <a:t> so this number drives hiring, budget, and board conversations.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6537960"/>
            <a:ext cx="9144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</a:pPr>
            <a:r>
              <a:rPr sz="1100" b="0">
                <a:solidFill>
                  <a:srgbClr val="6A7264"/>
                </a:solidFill>
                <a:latin typeface="Arial"/>
              </a:rPr>
              <a:t>BambooHR interview case study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55680" y="6537960"/>
            <a:ext cx="73152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0">
                <a:solidFill>
                  <a:srgbClr val="6A7264"/>
                </a:solidFill>
                <a:latin typeface="Arial"/>
              </a:rPr>
              <a:t>2/16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73C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bamboohr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256032"/>
            <a:ext cx="1417320" cy="30417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331720" y="228600"/>
            <a:ext cx="914400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dirty="0">
                <a:solidFill>
                  <a:srgbClr val="4F8F12"/>
                </a:solidFill>
                <a:latin typeface="Arial"/>
              </a:rPr>
              <a:t>THE PROBLEM 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03120" y="457200"/>
            <a:ext cx="9555480" cy="8925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2600" b="1" dirty="0">
                <a:solidFill>
                  <a:srgbClr val="1B1F17"/>
                </a:solidFill>
                <a:latin typeface="Arial"/>
              </a:rPr>
              <a:t>Headcount r</a:t>
            </a:r>
            <a:r>
              <a:rPr sz="2600" b="1" dirty="0">
                <a:solidFill>
                  <a:srgbClr val="1B1F17"/>
                </a:solidFill>
                <a:latin typeface="Arial"/>
              </a:rPr>
              <a:t>econciliation is critical</a:t>
            </a:r>
            <a:r>
              <a:rPr lang="en-US" sz="2600" b="1" dirty="0">
                <a:solidFill>
                  <a:srgbClr val="1B1F17"/>
                </a:solidFill>
                <a:latin typeface="Arial"/>
              </a:rPr>
              <a:t>,</a:t>
            </a:r>
            <a:r>
              <a:rPr sz="2600" b="1" dirty="0">
                <a:solidFill>
                  <a:srgbClr val="1B1F17"/>
                </a:solidFill>
                <a:latin typeface="Arial"/>
              </a:rPr>
              <a:t> but nobody can follow the story.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554480"/>
            <a:ext cx="3520440" cy="4114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E6EA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960120" y="1874519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4F8F12"/>
                </a:solidFill>
                <a:latin typeface="Arial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331720"/>
            <a:ext cx="29260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B1F17"/>
                </a:solidFill>
                <a:latin typeface="Arial"/>
              </a:rPr>
              <a:t>The number isn’t trusted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3108960"/>
            <a:ext cx="2926080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dirty="0">
                <a:solidFill>
                  <a:srgbClr val="6A7264"/>
                </a:solidFill>
                <a:latin typeface="Arial"/>
              </a:rPr>
              <a:t>Approved plan, working plan, and filled headcount live in different tabs</a:t>
            </a:r>
            <a:r>
              <a:rPr lang="en-US" sz="1500" b="0" dirty="0">
                <a:solidFill>
                  <a:srgbClr val="6A7264"/>
                </a:solidFill>
                <a:latin typeface="Arial"/>
              </a:rPr>
              <a:t>, </a:t>
            </a:r>
            <a:r>
              <a:rPr sz="1500" b="0" dirty="0">
                <a:solidFill>
                  <a:srgbClr val="6A7264"/>
                </a:solidFill>
                <a:latin typeface="Arial"/>
              </a:rPr>
              <a:t>often only one Finance owner can rebuild the story.</a:t>
            </a:r>
            <a:r>
              <a:rPr lang="en-US" sz="1500" b="0" dirty="0">
                <a:solidFill>
                  <a:srgbClr val="6A7264"/>
                </a:solidFill>
                <a:latin typeface="Arial"/>
              </a:rPr>
              <a:t> HR and Finance often have different numbers. </a:t>
            </a:r>
            <a:endParaRPr sz="1500" b="0" dirty="0">
              <a:solidFill>
                <a:srgbClr val="6A7264"/>
              </a:solidFill>
              <a:latin typeface="Arial"/>
            </a:endParaRPr>
          </a:p>
        </p:txBody>
      </p:sp>
      <p:sp>
        <p:nvSpPr>
          <p:cNvPr id="11" name="Rounded Rectangle 10"/>
          <p:cNvSpPr/>
          <p:nvPr/>
        </p:nvSpPr>
        <p:spPr>
          <a:xfrm>
            <a:off x="4434840" y="1554480"/>
            <a:ext cx="3520440" cy="4114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E6EA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709160" y="1874519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4F8F12"/>
                </a:solidFill>
                <a:latin typeface="Arial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09160" y="2331720"/>
            <a:ext cx="29260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B1F17"/>
                </a:solidFill>
                <a:latin typeface="Arial"/>
              </a:rPr>
              <a:t>The gap isn’t explained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09160" y="3108960"/>
            <a:ext cx="2926080" cy="12464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dirty="0">
                <a:solidFill>
                  <a:srgbClr val="6A7264"/>
                </a:solidFill>
                <a:latin typeface="Arial"/>
              </a:rPr>
              <a:t>Marketing can be −2</a:t>
            </a:r>
            <a:r>
              <a:rPr lang="en-US" sz="1500" b="0" dirty="0">
                <a:solidFill>
                  <a:srgbClr val="6A7264"/>
                </a:solidFill>
                <a:latin typeface="Arial"/>
              </a:rPr>
              <a:t> headcount </a:t>
            </a:r>
            <a:r>
              <a:rPr sz="1500" b="0" dirty="0">
                <a:solidFill>
                  <a:srgbClr val="6A7264"/>
                </a:solidFill>
                <a:latin typeface="Arial"/>
              </a:rPr>
              <a:t> vs plan</a:t>
            </a:r>
            <a:r>
              <a:rPr lang="en-US" sz="1500" b="0" dirty="0">
                <a:solidFill>
                  <a:srgbClr val="6A7264"/>
                </a:solidFill>
                <a:latin typeface="Arial"/>
              </a:rPr>
              <a:t>ned headcount</a:t>
            </a:r>
            <a:r>
              <a:rPr sz="1500" b="0" dirty="0">
                <a:solidFill>
                  <a:srgbClr val="6A7264"/>
                </a:solidFill>
                <a:latin typeface="Arial"/>
              </a:rPr>
              <a:t> with no named reason</a:t>
            </a:r>
            <a:r>
              <a:rPr lang="en-US" sz="1500" b="0" dirty="0">
                <a:solidFill>
                  <a:srgbClr val="6A7264"/>
                </a:solidFill>
                <a:latin typeface="Arial"/>
              </a:rPr>
              <a:t> (</a:t>
            </a:r>
            <a:r>
              <a:rPr sz="1500" b="0" dirty="0">
                <a:solidFill>
                  <a:srgbClr val="6A7264"/>
                </a:solidFill>
                <a:latin typeface="Arial"/>
              </a:rPr>
              <a:t>not backfilling, role closed, or a pivot to another team</a:t>
            </a:r>
            <a:r>
              <a:rPr lang="en-US" sz="1500" b="0" dirty="0">
                <a:solidFill>
                  <a:srgbClr val="6A7264"/>
                </a:solidFill>
                <a:latin typeface="Arial"/>
              </a:rPr>
              <a:t>). </a:t>
            </a:r>
            <a:endParaRPr sz="1500" b="0" dirty="0">
              <a:solidFill>
                <a:srgbClr val="6A7264"/>
              </a:solidFill>
              <a:latin typeface="Arial"/>
            </a:endParaRPr>
          </a:p>
        </p:txBody>
      </p:sp>
      <p:sp>
        <p:nvSpPr>
          <p:cNvPr id="15" name="Rounded Rectangle 14"/>
          <p:cNvSpPr/>
          <p:nvPr/>
        </p:nvSpPr>
        <p:spPr>
          <a:xfrm>
            <a:off x="8183879" y="1554480"/>
            <a:ext cx="3520440" cy="4114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E6EA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458199" y="1874519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4F8F12"/>
                </a:solidFill>
                <a:latin typeface="Arial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58199" y="2331720"/>
            <a:ext cx="29260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dirty="0">
                <a:solidFill>
                  <a:srgbClr val="1B1F17"/>
                </a:solidFill>
                <a:latin typeface="Arial"/>
              </a:rPr>
              <a:t>The date isn’t clear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58199" y="3108960"/>
            <a:ext cx="2926080" cy="12464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dirty="0">
                <a:solidFill>
                  <a:srgbClr val="6A7264"/>
                </a:solidFill>
                <a:latin typeface="Arial"/>
              </a:rPr>
              <a:t>Is this as of today or as of month-end close? Without a trusted as-of, every recon</a:t>
            </a:r>
            <a:r>
              <a:rPr lang="en-US" sz="1500" b="0" dirty="0">
                <a:solidFill>
                  <a:srgbClr val="6A7264"/>
                </a:solidFill>
                <a:latin typeface="Arial"/>
              </a:rPr>
              <a:t>ciliation</a:t>
            </a:r>
            <a:r>
              <a:rPr sz="1500" b="0" dirty="0">
                <a:solidFill>
                  <a:srgbClr val="6A7264"/>
                </a:solidFill>
                <a:latin typeface="Arial"/>
              </a:rPr>
              <a:t> rebuilds trust from scratch.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6537960"/>
            <a:ext cx="9144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A7264"/>
                </a:solidFill>
                <a:latin typeface="Arial"/>
              </a:rPr>
              <a:t>BambooHR interview case study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55680" y="6537960"/>
            <a:ext cx="731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A7264"/>
                </a:solidFill>
                <a:latin typeface="Arial"/>
              </a:rPr>
              <a:t>3/16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73C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bamboohr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256032"/>
            <a:ext cx="1417320" cy="30417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331720" y="228600"/>
            <a:ext cx="914400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dirty="0">
                <a:solidFill>
                  <a:srgbClr val="4F8F12"/>
                </a:solidFill>
                <a:latin typeface="Arial"/>
              </a:rPr>
              <a:t>W</a:t>
            </a:r>
            <a:r>
              <a:rPr lang="en-US" sz="1100" b="1" dirty="0">
                <a:solidFill>
                  <a:srgbClr val="4F8F12"/>
                </a:solidFill>
                <a:latin typeface="Arial"/>
              </a:rPr>
              <a:t>HO BENEFITS</a:t>
            </a:r>
            <a:endParaRPr sz="1100" b="1" dirty="0">
              <a:solidFill>
                <a:srgbClr val="4F8F12"/>
              </a:solidFill>
              <a:latin typeface="Arial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2331720" y="457200"/>
            <a:ext cx="9326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2600" b="1" dirty="0">
                <a:solidFill>
                  <a:srgbClr val="1B1F17"/>
                </a:solidFill>
                <a:latin typeface="Arial"/>
              </a:rPr>
              <a:t>With one system, everyone benefits</a:t>
            </a:r>
            <a:endParaRPr sz="2600" b="1" dirty="0">
              <a:solidFill>
                <a:srgbClr val="1B1F17"/>
              </a:solidFill>
              <a:latin typeface="Arial"/>
            </a:endParaRPr>
          </a:p>
        </p:txBody>
      </p:sp>
      <p:sp>
        <p:nvSpPr>
          <p:cNvPr id="6" name="Rounded Rectangle 5"/>
          <p:cNvSpPr/>
          <p:nvPr/>
        </p:nvSpPr>
        <p:spPr>
          <a:xfrm>
            <a:off x="685800" y="1463040"/>
            <a:ext cx="2286000" cy="9601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E6EA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68680" y="1737360"/>
            <a:ext cx="1920240" cy="411480"/>
          </a:xfrm>
          <a:prstGeom prst="rect">
            <a:avLst/>
          </a:prstGeom>
          <a:solidFill>
            <a:srgbClr val="FFFFFF"/>
          </a:solidFill>
          <a:ln>
            <a:solidFill>
              <a:srgbClr val="92D050"/>
            </a:solidFill>
          </a:ln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B1F17"/>
                </a:solidFill>
                <a:latin typeface="Arial"/>
              </a:rPr>
              <a:t>Finance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800" y="2560320"/>
            <a:ext cx="2286000" cy="9601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E6EA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68680" y="2834640"/>
            <a:ext cx="1920240" cy="411480"/>
          </a:xfrm>
          <a:prstGeom prst="rect">
            <a:avLst/>
          </a:prstGeom>
          <a:solidFill>
            <a:srgbClr val="FFFFFF"/>
          </a:solidFill>
          <a:ln>
            <a:solidFill>
              <a:srgbClr val="92D050"/>
            </a:solidFill>
          </a:ln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B1F17"/>
                </a:solidFill>
                <a:latin typeface="Arial"/>
              </a:rPr>
              <a:t>HR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85800" y="3657600"/>
            <a:ext cx="2286000" cy="9601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E6EA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68680" y="3931920"/>
            <a:ext cx="1920240" cy="411480"/>
          </a:xfrm>
          <a:prstGeom prst="rect">
            <a:avLst/>
          </a:prstGeom>
          <a:solidFill>
            <a:srgbClr val="FFFFFF"/>
          </a:solidFill>
          <a:ln>
            <a:solidFill>
              <a:srgbClr val="92D050"/>
            </a:solidFill>
          </a:ln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B1F17"/>
                </a:solidFill>
                <a:latin typeface="Arial"/>
              </a:rPr>
              <a:t>Managers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85800" y="4754879"/>
            <a:ext cx="2286000" cy="9601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E6EA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68680" y="5029199"/>
            <a:ext cx="1920240" cy="411480"/>
          </a:xfrm>
          <a:prstGeom prst="rect">
            <a:avLst/>
          </a:prstGeom>
          <a:solidFill>
            <a:srgbClr val="FFFFFF"/>
          </a:solidFill>
          <a:ln>
            <a:solidFill>
              <a:srgbClr val="92D050"/>
            </a:solidFill>
          </a:ln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B1F17"/>
                </a:solidFill>
                <a:latin typeface="Arial"/>
              </a:rPr>
              <a:t>Leadership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" y="6537960"/>
            <a:ext cx="9144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A7264"/>
                </a:solidFill>
                <a:latin typeface="Arial"/>
              </a:rPr>
              <a:t>BambooHR interview case study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155680" y="6537960"/>
            <a:ext cx="731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A7264"/>
                </a:solidFill>
                <a:latin typeface="Arial"/>
              </a:rPr>
              <a:t>4/16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0400" y="1645919"/>
            <a:ext cx="8229600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dirty="0">
                <a:solidFill>
                  <a:srgbClr val="4F8F12"/>
                </a:solidFill>
                <a:latin typeface="Arial"/>
              </a:rPr>
              <a:t>Benefit: </a:t>
            </a:r>
            <a:r>
              <a:rPr sz="1500" b="0" dirty="0">
                <a:solidFill>
                  <a:srgbClr val="4F8F12"/>
                </a:solidFill>
                <a:latin typeface="Arial"/>
              </a:rPr>
              <a:t>A headcount number they can trust at close</a:t>
            </a:r>
            <a:r>
              <a:rPr lang="en-US" sz="1500" b="0" dirty="0">
                <a:solidFill>
                  <a:srgbClr val="4F8F12"/>
                </a:solidFill>
                <a:latin typeface="Arial"/>
              </a:rPr>
              <a:t>,</a:t>
            </a:r>
            <a:r>
              <a:rPr sz="1500" b="0" dirty="0">
                <a:solidFill>
                  <a:srgbClr val="4F8F12"/>
                </a:solidFill>
                <a:latin typeface="Arial"/>
              </a:rPr>
              <a:t> and that isn’t locked in one person’s head.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200400" y="2743200"/>
            <a:ext cx="8229600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dirty="0">
                <a:solidFill>
                  <a:srgbClr val="4F8F12"/>
                </a:solidFill>
                <a:latin typeface="Arial"/>
              </a:rPr>
              <a:t>Benefit: </a:t>
            </a:r>
            <a:r>
              <a:rPr sz="1500" b="0" dirty="0">
                <a:solidFill>
                  <a:srgbClr val="4F8F12"/>
                </a:solidFill>
                <a:latin typeface="Arial"/>
              </a:rPr>
              <a:t>Real alignment with Finance on every hire and departure</a:t>
            </a:r>
            <a:r>
              <a:rPr lang="en-US" sz="1500" b="0" dirty="0">
                <a:solidFill>
                  <a:srgbClr val="4F8F12"/>
                </a:solidFill>
                <a:latin typeface="Arial"/>
              </a:rPr>
              <a:t>, </a:t>
            </a:r>
            <a:r>
              <a:rPr sz="1500" b="0" dirty="0">
                <a:solidFill>
                  <a:srgbClr val="4F8F12"/>
                </a:solidFill>
                <a:latin typeface="Arial"/>
              </a:rPr>
              <a:t> without spreadsheet ping-pong.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200400" y="3840480"/>
            <a:ext cx="8229600" cy="3231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dirty="0">
                <a:solidFill>
                  <a:srgbClr val="4F8F12"/>
                </a:solidFill>
                <a:latin typeface="Arial"/>
              </a:rPr>
              <a:t>Benefit: </a:t>
            </a:r>
            <a:r>
              <a:rPr sz="1500" b="0" dirty="0">
                <a:solidFill>
                  <a:srgbClr val="4F8F12"/>
                </a:solidFill>
                <a:latin typeface="Arial"/>
              </a:rPr>
              <a:t>Clear visibility into whether their hiring request is moving</a:t>
            </a:r>
            <a:r>
              <a:rPr lang="en-US" sz="1500" b="0" dirty="0">
                <a:solidFill>
                  <a:srgbClr val="4F8F12"/>
                </a:solidFill>
                <a:latin typeface="Arial"/>
              </a:rPr>
              <a:t>,</a:t>
            </a:r>
            <a:r>
              <a:rPr sz="1500" b="0" dirty="0">
                <a:solidFill>
                  <a:srgbClr val="4F8F12"/>
                </a:solidFill>
                <a:latin typeface="Arial"/>
              </a:rPr>
              <a:t> without chasing people.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200400" y="4937759"/>
            <a:ext cx="8229600" cy="3231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dirty="0">
                <a:solidFill>
                  <a:srgbClr val="4F8F12"/>
                </a:solidFill>
                <a:latin typeface="Arial"/>
              </a:rPr>
              <a:t>Benefit: </a:t>
            </a:r>
            <a:r>
              <a:rPr sz="1500" b="0" dirty="0">
                <a:solidFill>
                  <a:srgbClr val="4F8F12"/>
                </a:solidFill>
                <a:latin typeface="Arial"/>
              </a:rPr>
              <a:t>Confidence the people story holds up for the board</a:t>
            </a:r>
            <a:r>
              <a:rPr lang="en-US" sz="1500" b="0" dirty="0">
                <a:solidFill>
                  <a:srgbClr val="4F8F12"/>
                </a:solidFill>
                <a:latin typeface="Arial"/>
              </a:rPr>
              <a:t>,</a:t>
            </a:r>
            <a:r>
              <a:rPr sz="1500" b="0" dirty="0">
                <a:solidFill>
                  <a:srgbClr val="4F8F12"/>
                </a:solidFill>
                <a:latin typeface="Arial"/>
              </a:rPr>
              <a:t> even if a key FP&amp;A owner is out.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73C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bamboohr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256032"/>
            <a:ext cx="1417320" cy="30417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331720" y="228600"/>
            <a:ext cx="914400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1100" b="1" dirty="0">
                <a:solidFill>
                  <a:srgbClr val="4F8F12"/>
                </a:solidFill>
                <a:latin typeface="Arial"/>
              </a:rPr>
              <a:t>BUSINESS BENEFIT</a:t>
            </a:r>
            <a:endParaRPr sz="1100" b="1" dirty="0">
              <a:solidFill>
                <a:srgbClr val="4F8F12"/>
              </a:solidFill>
              <a:latin typeface="Arial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2331720" y="457200"/>
            <a:ext cx="9326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dirty="0">
                <a:solidFill>
                  <a:srgbClr val="1B1F17"/>
                </a:solidFill>
                <a:latin typeface="Arial"/>
              </a:rPr>
              <a:t>A product Finance will fight for</a:t>
            </a:r>
            <a:r>
              <a:rPr lang="en-US" sz="2600" b="1" dirty="0">
                <a:solidFill>
                  <a:srgbClr val="1B1F17"/>
                </a:solidFill>
                <a:latin typeface="Arial"/>
              </a:rPr>
              <a:t>,</a:t>
            </a:r>
            <a:r>
              <a:rPr sz="2600" b="1" dirty="0">
                <a:solidFill>
                  <a:srgbClr val="1B1F17"/>
                </a:solidFill>
                <a:latin typeface="Arial"/>
              </a:rPr>
              <a:t> not only HR.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508760"/>
            <a:ext cx="5440680" cy="2057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E6EA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005840" y="1828800"/>
            <a:ext cx="4800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1B1F17"/>
                </a:solidFill>
                <a:latin typeface="Arial"/>
              </a:rPr>
              <a:t>Sell Finance easier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377440"/>
            <a:ext cx="4800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6A7264"/>
                </a:solidFill>
                <a:latin typeface="Arial"/>
              </a:rPr>
              <a:t>Head of Finance: “If this product existed, you would sell the finance department much easier.” Direct GTM signal.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55080" y="1508760"/>
            <a:ext cx="5440680" cy="2057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E6EA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675120" y="1828800"/>
            <a:ext cx="4800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1B1F17"/>
                </a:solidFill>
                <a:latin typeface="Arial"/>
              </a:rPr>
              <a:t>Expand beyond HRIS admin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75120" y="2377440"/>
            <a:ext cx="4800600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dirty="0">
                <a:solidFill>
                  <a:srgbClr val="6A7264"/>
                </a:solidFill>
                <a:latin typeface="Arial"/>
              </a:rPr>
              <a:t>Headcount recon sits on BambooHR’s source-of-truth. Makes the HRIS the system Finance opens at close</a:t>
            </a:r>
            <a:r>
              <a:rPr lang="en-US" sz="1400" b="0" dirty="0">
                <a:solidFill>
                  <a:srgbClr val="6A7264"/>
                </a:solidFill>
                <a:latin typeface="Arial"/>
              </a:rPr>
              <a:t>,</a:t>
            </a:r>
            <a:r>
              <a:rPr sz="1400" b="0" dirty="0">
                <a:solidFill>
                  <a:srgbClr val="6A7264"/>
                </a:solidFill>
                <a:latin typeface="Arial"/>
              </a:rPr>
              <a:t> not a spreadsheet export.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85800" y="3794760"/>
            <a:ext cx="5440680" cy="2057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E6EA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1005840" y="4114800"/>
            <a:ext cx="48006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dirty="0">
                <a:solidFill>
                  <a:srgbClr val="1B1F17"/>
                </a:solidFill>
                <a:latin typeface="Arial"/>
              </a:rPr>
              <a:t>Differentiate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4663440"/>
            <a:ext cx="4800600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1400" b="0" dirty="0">
                <a:solidFill>
                  <a:srgbClr val="6A7264"/>
                </a:solidFill>
                <a:latin typeface="Arial"/>
              </a:rPr>
              <a:t>Companies like ADP who have large clients do not have this type of product even though it is a major time commitment for current finance leaders.</a:t>
            </a:r>
            <a:endParaRPr sz="1400" b="0" dirty="0">
              <a:solidFill>
                <a:srgbClr val="6A7264"/>
              </a:solidFill>
              <a:latin typeface="Arial"/>
            </a:endParaRPr>
          </a:p>
        </p:txBody>
      </p:sp>
      <p:sp>
        <p:nvSpPr>
          <p:cNvPr id="15" name="Rounded Rectangle 14"/>
          <p:cNvSpPr/>
          <p:nvPr/>
        </p:nvSpPr>
        <p:spPr>
          <a:xfrm>
            <a:off x="6355080" y="3794760"/>
            <a:ext cx="5440680" cy="2057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E6EA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675120" y="4114800"/>
            <a:ext cx="4800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1B1F17"/>
                </a:solidFill>
                <a:latin typeface="Arial"/>
              </a:rPr>
              <a:t>Retention &amp; expansion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75120" y="4663440"/>
            <a:ext cx="4800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6A7264"/>
                </a:solidFill>
                <a:latin typeface="Arial"/>
              </a:rPr>
              <a:t>Once FP&amp;A depends on BambooHR for the monthly story, switching costs rise and seats expand into finance buyers.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6537960"/>
            <a:ext cx="9144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A7264"/>
                </a:solidFill>
                <a:latin typeface="Arial"/>
              </a:rPr>
              <a:t>BambooHR interview case study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155680" y="6537960"/>
            <a:ext cx="731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A7264"/>
                </a:solidFill>
                <a:latin typeface="Arial"/>
              </a:rPr>
              <a:t>5/16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73C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bamboohr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256032"/>
            <a:ext cx="1417320" cy="30417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331720" y="228600"/>
            <a:ext cx="9144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4F8F12"/>
                </a:solidFill>
                <a:latin typeface="Arial"/>
              </a:rPr>
              <a:t>WHAT IT LOOKS LIKE TODAY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331720" y="457200"/>
            <a:ext cx="9326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2600" b="1" dirty="0">
                <a:solidFill>
                  <a:srgbClr val="1B1F17"/>
                </a:solidFill>
                <a:latin typeface="Arial"/>
              </a:rPr>
              <a:t>Spreadsheet that only the FP&amp;A leader can follow</a:t>
            </a:r>
            <a:endParaRPr sz="2600" b="1" dirty="0">
              <a:solidFill>
                <a:srgbClr val="1B1F17"/>
              </a:solidFill>
              <a:latin typeface="Arial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2331720" y="866001"/>
            <a:ext cx="972693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dirty="0">
                <a:solidFill>
                  <a:srgbClr val="6A7264"/>
                </a:solidFill>
                <a:latin typeface="Arial"/>
              </a:rPr>
              <a:t>Fictional Northline data</a:t>
            </a:r>
            <a:r>
              <a:rPr lang="en-US" sz="1200" b="0" dirty="0">
                <a:solidFill>
                  <a:srgbClr val="6A7264"/>
                </a:solidFill>
                <a:latin typeface="Arial"/>
              </a:rPr>
              <a:t>: This is a real spreadsheet from a Head of Finance but with numbers and roles changed to protect confidentiality </a:t>
            </a:r>
            <a:endParaRPr sz="1200" b="0" dirty="0">
              <a:solidFill>
                <a:srgbClr val="6A7264"/>
              </a:solidFill>
              <a:latin typeface="Arial"/>
            </a:endParaRPr>
          </a:p>
        </p:txBody>
      </p:sp>
      <p:pic>
        <p:nvPicPr>
          <p:cNvPr id="7" name="Picture 6" descr="00-current-spreadshee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80" y="1417320"/>
            <a:ext cx="7763069" cy="475488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85800" y="6537960"/>
            <a:ext cx="9144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dirty="0">
                <a:solidFill>
                  <a:srgbClr val="6A7264"/>
                </a:solidFill>
                <a:latin typeface="Arial"/>
              </a:rPr>
              <a:t>BambooHR interview case study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537960"/>
            <a:ext cx="731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A7264"/>
                </a:solidFill>
                <a:latin typeface="Arial"/>
              </a:rPr>
              <a:t>6/16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73C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bamboohr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256032"/>
            <a:ext cx="1417320" cy="30417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331720" y="228600"/>
            <a:ext cx="914400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dirty="0">
                <a:solidFill>
                  <a:srgbClr val="4F8F12"/>
                </a:solidFill>
                <a:latin typeface="Arial"/>
              </a:rPr>
              <a:t>EVIDENCE</a:t>
            </a:r>
            <a:r>
              <a:rPr lang="en-US" sz="1100" b="1" dirty="0">
                <a:solidFill>
                  <a:srgbClr val="4F8F12"/>
                </a:solidFill>
                <a:latin typeface="Arial"/>
              </a:rPr>
              <a:t> – REASONS TO BELIEVE</a:t>
            </a:r>
            <a:endParaRPr sz="1100" b="1" dirty="0">
              <a:solidFill>
                <a:srgbClr val="4F8F12"/>
              </a:solidFill>
              <a:latin typeface="Arial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2331720" y="457200"/>
            <a:ext cx="9326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2600" b="1" dirty="0">
                <a:solidFill>
                  <a:srgbClr val="1B1F17"/>
                </a:solidFill>
                <a:latin typeface="Arial"/>
              </a:rPr>
              <a:t>Interview with</a:t>
            </a:r>
            <a:r>
              <a:rPr sz="2600" b="1" dirty="0">
                <a:solidFill>
                  <a:srgbClr val="1B1F17"/>
                </a:solidFill>
                <a:latin typeface="Arial"/>
              </a:rPr>
              <a:t> Head of Finance</a:t>
            </a:r>
            <a:r>
              <a:rPr lang="en-US" sz="2600" b="1" dirty="0">
                <a:solidFill>
                  <a:srgbClr val="1B1F17"/>
                </a:solidFill>
                <a:latin typeface="Arial"/>
              </a:rPr>
              <a:t> at 300 employee company</a:t>
            </a:r>
            <a:endParaRPr sz="2600" b="1" dirty="0">
              <a:solidFill>
                <a:srgbClr val="1B1F17"/>
              </a:solidFill>
              <a:latin typeface="Arial"/>
            </a:endParaRPr>
          </a:p>
        </p:txBody>
      </p:sp>
      <p:sp>
        <p:nvSpPr>
          <p:cNvPr id="6" name="Rounded Rectangle 5"/>
          <p:cNvSpPr/>
          <p:nvPr/>
        </p:nvSpPr>
        <p:spPr>
          <a:xfrm>
            <a:off x="685800" y="1417320"/>
            <a:ext cx="10972800" cy="1417320"/>
          </a:xfrm>
          <a:prstGeom prst="roundRect">
            <a:avLst>
              <a:gd name="adj" fmla="val 6000"/>
            </a:avLst>
          </a:prstGeom>
          <a:solidFill>
            <a:srgbClr val="F3F8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051560" y="1600200"/>
            <a:ext cx="1024128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dirty="0">
                <a:solidFill>
                  <a:srgbClr val="1B1F17"/>
                </a:solidFill>
                <a:latin typeface="Arial"/>
              </a:rPr>
              <a:t>“Reconciliation is critical, but the presentation tools are </a:t>
            </a:r>
            <a:r>
              <a:rPr lang="en-US" sz="2000" b="0" dirty="0">
                <a:solidFill>
                  <a:srgbClr val="1B1F17"/>
                </a:solidFill>
                <a:latin typeface="Arial"/>
              </a:rPr>
              <a:t>complicated,</a:t>
            </a:r>
            <a:r>
              <a:rPr sz="2000" b="0" dirty="0">
                <a:solidFill>
                  <a:srgbClr val="1B1F17"/>
                </a:solidFill>
                <a:latin typeface="Arial"/>
              </a:rPr>
              <a:t> and nobody understands them”</a:t>
            </a:r>
          </a:p>
          <a:p>
            <a:pPr algn="l">
              <a:spcBef>
                <a:spcPts val="1400"/>
              </a:spcBef>
            </a:pPr>
            <a:r>
              <a:rPr sz="1400" b="1" dirty="0">
                <a:solidFill>
                  <a:srgbClr val="4F8F12"/>
                </a:solidFill>
                <a:latin typeface="Arial"/>
              </a:rPr>
              <a:t>— Head of Finance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4526280"/>
            <a:ext cx="10972800" cy="1417320"/>
          </a:xfrm>
          <a:prstGeom prst="roundRect">
            <a:avLst>
              <a:gd name="adj" fmla="val 6000"/>
            </a:avLst>
          </a:prstGeom>
          <a:solidFill>
            <a:srgbClr val="F3F8EA"/>
          </a:solidFill>
          <a:ln>
            <a:solidFill>
              <a:srgbClr val="E6EA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051560" y="4709160"/>
            <a:ext cx="1024128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dirty="0">
                <a:solidFill>
                  <a:srgbClr val="1B1F17"/>
                </a:solidFill>
                <a:latin typeface="Arial"/>
              </a:rPr>
              <a:t>“If this product existed, you would sell the finance department much easier”</a:t>
            </a:r>
          </a:p>
          <a:p>
            <a:pPr algn="l">
              <a:spcBef>
                <a:spcPts val="1400"/>
              </a:spcBef>
            </a:pPr>
            <a:r>
              <a:rPr sz="1400" b="1" dirty="0">
                <a:solidFill>
                  <a:srgbClr val="4F8F12"/>
                </a:solidFill>
                <a:latin typeface="Arial"/>
              </a:rPr>
              <a:t>— Head of Finance  ·  Direct GTM signal for BambooHR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6537960"/>
            <a:ext cx="9144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A7264"/>
                </a:solidFill>
                <a:latin typeface="Arial"/>
              </a:rPr>
              <a:t>BambooHR interview case study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55680" y="6537960"/>
            <a:ext cx="731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A7264"/>
                </a:solidFill>
                <a:latin typeface="Arial"/>
              </a:rPr>
              <a:t>7/16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85800" y="2971800"/>
            <a:ext cx="10972800" cy="1417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1051560" y="3172968"/>
            <a:ext cx="10241280" cy="103618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0" dirty="0">
                <a:solidFill>
                  <a:srgbClr val="1B1F17"/>
                </a:solidFill>
                <a:latin typeface="Arial"/>
              </a:rPr>
              <a:t>“The problem is I’m the only one that reconciliation relies on. If I got hit by a bus, we’d be doomed”</a:t>
            </a:r>
          </a:p>
          <a:p>
            <a:pPr>
              <a:spcBef>
                <a:spcPts val="1000"/>
              </a:spcBef>
            </a:pPr>
            <a:r>
              <a:rPr sz="1300" b="1" dirty="0">
                <a:solidFill>
                  <a:srgbClr val="4F8F12"/>
                </a:solidFill>
                <a:latin typeface="Arial"/>
              </a:rPr>
              <a:t>— Head of Finance  ·  Key-person / bus</a:t>
            </a:r>
            <a:r>
              <a:rPr lang="en-US" sz="1300" b="1" dirty="0">
                <a:solidFill>
                  <a:srgbClr val="4F8F12"/>
                </a:solidFill>
                <a:latin typeface="Arial"/>
              </a:rPr>
              <a:t>iness</a:t>
            </a:r>
            <a:r>
              <a:rPr sz="1300" b="1" dirty="0">
                <a:solidFill>
                  <a:srgbClr val="4F8F12"/>
                </a:solidFill>
                <a:latin typeface="Arial"/>
              </a:rPr>
              <a:t>-factor risk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73C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bamboohr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256032"/>
            <a:ext cx="1417320" cy="30417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331720" y="228600"/>
            <a:ext cx="9144000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100" b="1" dirty="0">
                <a:solidFill>
                  <a:srgbClr val="4F8F12"/>
                </a:solidFill>
                <a:latin typeface="Arial"/>
              </a:rPr>
              <a:t>EVIDENCE – REASONS TO BELIEVE</a:t>
            </a:r>
          </a:p>
          <a:p>
            <a:pPr algn="l"/>
            <a:endParaRPr sz="1100" b="1" dirty="0">
              <a:solidFill>
                <a:srgbClr val="4F8F12"/>
              </a:solidFill>
              <a:latin typeface="Arial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2331720" y="457200"/>
            <a:ext cx="9326880" cy="8925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dirty="0">
                <a:solidFill>
                  <a:srgbClr val="1B1F17"/>
                </a:solidFill>
                <a:latin typeface="Arial"/>
              </a:rPr>
              <a:t>Market </a:t>
            </a:r>
            <a:r>
              <a:rPr lang="en-US" sz="2600" b="1" dirty="0">
                <a:solidFill>
                  <a:srgbClr val="1B1F17"/>
                </a:solidFill>
                <a:latin typeface="Arial"/>
              </a:rPr>
              <a:t>Research:</a:t>
            </a:r>
            <a:r>
              <a:rPr sz="2600" b="1" dirty="0">
                <a:solidFill>
                  <a:srgbClr val="1B1F17"/>
                </a:solidFill>
                <a:latin typeface="Arial"/>
              </a:rPr>
              <a:t> HR and Finance still don’t share one headcount system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554480"/>
            <a:ext cx="3520440" cy="4114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E6EA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14400" y="1920240"/>
            <a:ext cx="3063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4F8F12"/>
                </a:solidFill>
                <a:latin typeface="Arial"/>
              </a:rPr>
              <a:t>72%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926080"/>
            <a:ext cx="30632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1B1F17"/>
                </a:solidFill>
                <a:latin typeface="Arial"/>
              </a:rPr>
              <a:t>of HR &amp; Finance teams lack shared systems for workforce planning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846320"/>
            <a:ext cx="30632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A7264"/>
                </a:solidFill>
                <a:latin typeface="Arial"/>
              </a:rPr>
              <a:t>Gartner, cited via Kinnect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34840" y="1554480"/>
            <a:ext cx="3520440" cy="4114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E6EA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663440" y="1920240"/>
            <a:ext cx="3063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4F8F12"/>
                </a:solidFill>
                <a:latin typeface="Arial"/>
              </a:rPr>
              <a:t>14 → 8 days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0" y="2926080"/>
            <a:ext cx="3063240" cy="1708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1500" b="0" dirty="0">
                <a:solidFill>
                  <a:srgbClr val="1B1F17"/>
                </a:solidFill>
                <a:latin typeface="Arial"/>
              </a:rPr>
              <a:t>Without a connected system between HR and Finance </a:t>
            </a:r>
            <a:r>
              <a:rPr lang="en-US" sz="1500" dirty="0">
                <a:solidFill>
                  <a:srgbClr val="1B1F17"/>
                </a:solidFill>
                <a:latin typeface="Arial"/>
              </a:rPr>
              <a:t>headcount reconciliation takes 14 days. With a connected system it takes 8. This is without a product that actively monitors reconciliation </a:t>
            </a:r>
            <a:endParaRPr sz="1500" b="0" dirty="0">
              <a:solidFill>
                <a:srgbClr val="1B1F17"/>
              </a:solidFill>
              <a:latin typeface="Arial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4663440" y="4846320"/>
            <a:ext cx="30632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A7264"/>
                </a:solidFill>
                <a:latin typeface="Arial"/>
              </a:rPr>
              <a:t>IJIRMPS healthcare case study, 2025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83879" y="1554480"/>
            <a:ext cx="3520440" cy="4114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E6EA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412479" y="1920240"/>
            <a:ext cx="3063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4F8F12"/>
                </a:solidFill>
                <a:latin typeface="Arial"/>
              </a:rPr>
              <a:t>25%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12479" y="2926080"/>
            <a:ext cx="3063240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dirty="0">
                <a:solidFill>
                  <a:srgbClr val="1B1F17"/>
                </a:solidFill>
                <a:latin typeface="Arial"/>
              </a:rPr>
              <a:t>average discrepancy between HR and Finance headcount reports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12479" y="4846320"/>
            <a:ext cx="30632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A7264"/>
                </a:solidFill>
                <a:latin typeface="Arial"/>
              </a:rPr>
              <a:t>PwC (2022), cited in IJIRMPS 2025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6537960"/>
            <a:ext cx="9144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A7264"/>
                </a:solidFill>
                <a:latin typeface="Arial"/>
              </a:rPr>
              <a:t>BambooHR interview case study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155680" y="6537960"/>
            <a:ext cx="731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A7264"/>
                </a:solidFill>
                <a:latin typeface="Arial"/>
              </a:rPr>
              <a:t>8/16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73C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bamboohr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256032"/>
            <a:ext cx="1417320" cy="30417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331720" y="228600"/>
            <a:ext cx="9144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4F8F12"/>
                </a:solidFill>
                <a:latin typeface="Arial"/>
              </a:rPr>
              <a:t>HYPOTHESES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331720" y="457200"/>
            <a:ext cx="9326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2600" b="1" dirty="0">
                <a:solidFill>
                  <a:srgbClr val="1B1F17"/>
                </a:solidFill>
                <a:latin typeface="Arial"/>
              </a:rPr>
              <a:t>Five initial hypotheses</a:t>
            </a:r>
            <a:endParaRPr sz="2600" b="1" dirty="0">
              <a:solidFill>
                <a:srgbClr val="1B1F17"/>
              </a:solidFill>
              <a:latin typeface="Arial"/>
            </a:endParaRPr>
          </a:p>
        </p:txBody>
      </p:sp>
      <p:sp>
        <p:nvSpPr>
          <p:cNvPr id="6" name="Rounded Rectangle 5"/>
          <p:cNvSpPr/>
          <p:nvPr/>
        </p:nvSpPr>
        <p:spPr>
          <a:xfrm>
            <a:off x="685800" y="1417320"/>
            <a:ext cx="914400" cy="685800"/>
          </a:xfrm>
          <a:prstGeom prst="roundRect">
            <a:avLst>
              <a:gd name="adj" fmla="val 6000"/>
            </a:avLst>
          </a:prstGeom>
          <a:solidFill>
            <a:srgbClr val="73C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85800" y="16002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H1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28800" y="1508760"/>
            <a:ext cx="3200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B1F17"/>
                </a:solidFill>
                <a:latin typeface="Arial"/>
              </a:rPr>
              <a:t>Cognitive load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" y="2286000"/>
            <a:ext cx="914400" cy="685800"/>
          </a:xfrm>
          <a:prstGeom prst="roundRect">
            <a:avLst>
              <a:gd name="adj" fmla="val 6000"/>
            </a:avLst>
          </a:prstGeom>
          <a:solidFill>
            <a:srgbClr val="73C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85800" y="246888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H2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28800" y="2377440"/>
            <a:ext cx="3200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B1F17"/>
                </a:solidFill>
                <a:latin typeface="Arial"/>
              </a:rPr>
              <a:t>Definition debt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85800" y="3154680"/>
            <a:ext cx="914400" cy="685800"/>
          </a:xfrm>
          <a:prstGeom prst="roundRect">
            <a:avLst>
              <a:gd name="adj" fmla="val 6000"/>
            </a:avLst>
          </a:prstGeom>
          <a:solidFill>
            <a:srgbClr val="73C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85800" y="333756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H3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28800" y="3246120"/>
            <a:ext cx="3200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B1F17"/>
                </a:solidFill>
                <a:latin typeface="Arial"/>
              </a:rPr>
              <a:t>No decision object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85800" y="4023359"/>
            <a:ext cx="914400" cy="685800"/>
          </a:xfrm>
          <a:prstGeom prst="roundRect">
            <a:avLst>
              <a:gd name="adj" fmla="val 6000"/>
            </a:avLst>
          </a:prstGeom>
          <a:solidFill>
            <a:srgbClr val="73C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685800" y="4206239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H4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28800" y="4114799"/>
            <a:ext cx="3200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B1F17"/>
                </a:solidFill>
                <a:latin typeface="Arial"/>
              </a:rPr>
              <a:t>Time blindness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85800" y="4892040"/>
            <a:ext cx="914400" cy="685800"/>
          </a:xfrm>
          <a:prstGeom prst="roundRect">
            <a:avLst>
              <a:gd name="adj" fmla="val 6000"/>
            </a:avLst>
          </a:prstGeom>
          <a:solidFill>
            <a:srgbClr val="73C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685800" y="507492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H5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828800" y="4983480"/>
            <a:ext cx="32004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dirty="0">
                <a:solidFill>
                  <a:srgbClr val="1B1F17"/>
                </a:solidFill>
                <a:latin typeface="Arial"/>
              </a:rPr>
              <a:t>Wrong default visualization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85800" y="6537960"/>
            <a:ext cx="9144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A7264"/>
                </a:solidFill>
                <a:latin typeface="Arial"/>
              </a:rPr>
              <a:t>BambooHR interview case study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155680" y="6537960"/>
            <a:ext cx="731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A7264"/>
                </a:solidFill>
                <a:latin typeface="Arial"/>
              </a:rPr>
              <a:t>9/16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937760" y="1508760"/>
            <a:ext cx="658368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dirty="0">
                <a:solidFill>
                  <a:srgbClr val="4F8F12"/>
                </a:solidFill>
                <a:latin typeface="Arial"/>
              </a:rPr>
              <a:t>Leaders can</a:t>
            </a:r>
            <a:r>
              <a:rPr lang="en-US" sz="1400" b="0" dirty="0">
                <a:solidFill>
                  <a:srgbClr val="4F8F12"/>
                </a:solidFill>
                <a:latin typeface="Arial"/>
              </a:rPr>
              <a:t>’t</a:t>
            </a:r>
            <a:r>
              <a:rPr sz="1400" b="0" dirty="0">
                <a:solidFill>
                  <a:srgbClr val="4F8F12"/>
                </a:solidFill>
                <a:latin typeface="Arial"/>
              </a:rPr>
              <a:t> follow the recon</a:t>
            </a:r>
            <a:r>
              <a:rPr lang="en-US" sz="1400" b="0" dirty="0">
                <a:solidFill>
                  <a:srgbClr val="4F8F12"/>
                </a:solidFill>
                <a:latin typeface="Arial"/>
              </a:rPr>
              <a:t>ciliation</a:t>
            </a:r>
            <a:r>
              <a:rPr sz="1400" b="0" dirty="0">
                <a:solidFill>
                  <a:srgbClr val="4F8F12"/>
                </a:solidFill>
                <a:latin typeface="Arial"/>
              </a:rPr>
              <a:t> without a specialist walking them through the tabs.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937760" y="2377440"/>
            <a:ext cx="658368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dirty="0">
                <a:solidFill>
                  <a:srgbClr val="4F8F12"/>
                </a:solidFill>
                <a:latin typeface="Arial"/>
              </a:rPr>
              <a:t>Finance and HR </a:t>
            </a:r>
            <a:r>
              <a:rPr lang="en-US" sz="1400" b="0" dirty="0">
                <a:solidFill>
                  <a:srgbClr val="4F8F12"/>
                </a:solidFill>
                <a:latin typeface="Arial"/>
              </a:rPr>
              <a:t>are on the same </a:t>
            </a:r>
            <a:r>
              <a:rPr lang="en-US" sz="1400" b="0" dirty="0" err="1">
                <a:solidFill>
                  <a:srgbClr val="4F8F12"/>
                </a:solidFill>
                <a:latin typeface="Arial"/>
              </a:rPr>
              <a:t>terms</a:t>
            </a:r>
            <a:r>
              <a:rPr sz="1400" b="0" dirty="0" err="1">
                <a:solidFill>
                  <a:srgbClr val="4F8F12"/>
                </a:solidFill>
                <a:latin typeface="Arial"/>
              </a:rPr>
              <a:t>when</a:t>
            </a:r>
            <a:r>
              <a:rPr sz="1400" b="0" dirty="0">
                <a:solidFill>
                  <a:srgbClr val="4F8F12"/>
                </a:solidFill>
                <a:latin typeface="Arial"/>
              </a:rPr>
              <a:t> they say backfill, not backfilling, or pivot.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937760" y="3246120"/>
            <a:ext cx="658368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dirty="0">
                <a:solidFill>
                  <a:srgbClr val="4F8F12"/>
                </a:solidFill>
                <a:latin typeface="Arial"/>
              </a:rPr>
              <a:t>Mid-cycle changes disappear into one person’s </a:t>
            </a:r>
            <a:r>
              <a:rPr lang="en-US" sz="1400" b="0" dirty="0">
                <a:solidFill>
                  <a:srgbClr val="4F8F12"/>
                </a:solidFill>
                <a:latin typeface="Arial"/>
              </a:rPr>
              <a:t>spreadsheet or disappear completely</a:t>
            </a:r>
            <a:r>
              <a:rPr sz="1400" b="0" dirty="0">
                <a:solidFill>
                  <a:srgbClr val="4F8F12"/>
                </a:solidFill>
                <a:latin typeface="Arial"/>
              </a:rPr>
              <a:t>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937760" y="4114799"/>
            <a:ext cx="658368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dirty="0">
                <a:solidFill>
                  <a:srgbClr val="4F8F12"/>
                </a:solidFill>
                <a:latin typeface="Arial"/>
              </a:rPr>
              <a:t>Nobody</a:t>
            </a:r>
            <a:r>
              <a:rPr sz="1400" b="0" dirty="0">
                <a:solidFill>
                  <a:srgbClr val="4F8F12"/>
                </a:solidFill>
                <a:latin typeface="Arial"/>
              </a:rPr>
              <a:t> knows whether the number is as of close</a:t>
            </a:r>
            <a:r>
              <a:rPr lang="en-US" sz="1400" b="0" dirty="0">
                <a:solidFill>
                  <a:srgbClr val="4F8F12"/>
                </a:solidFill>
                <a:latin typeface="Arial"/>
              </a:rPr>
              <a:t>, </a:t>
            </a:r>
            <a:r>
              <a:rPr sz="1400" b="0" dirty="0">
                <a:solidFill>
                  <a:srgbClr val="4F8F12"/>
                </a:solidFill>
                <a:latin typeface="Arial"/>
              </a:rPr>
              <a:t>or as of today.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937760" y="4983480"/>
            <a:ext cx="658368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dirty="0">
                <a:solidFill>
                  <a:srgbClr val="4F8F12"/>
                </a:solidFill>
                <a:latin typeface="Arial"/>
              </a:rPr>
              <a:t>The gap is</a:t>
            </a:r>
            <a:r>
              <a:rPr lang="en-US" sz="1400" dirty="0">
                <a:solidFill>
                  <a:srgbClr val="4F8F12"/>
                </a:solidFill>
                <a:latin typeface="Arial"/>
              </a:rPr>
              <a:t> not</a:t>
            </a:r>
            <a:r>
              <a:rPr sz="1400" b="0" dirty="0">
                <a:solidFill>
                  <a:srgbClr val="4F8F12"/>
                </a:solidFill>
                <a:latin typeface="Arial"/>
              </a:rPr>
              <a:t> readable in one </a:t>
            </a:r>
            <a:r>
              <a:rPr lang="en-US" sz="1400" b="0" dirty="0">
                <a:solidFill>
                  <a:srgbClr val="4F8F12"/>
                </a:solidFill>
                <a:latin typeface="Arial"/>
              </a:rPr>
              <a:t>pass;</a:t>
            </a:r>
            <a:r>
              <a:rPr sz="1400" b="0" dirty="0">
                <a:solidFill>
                  <a:srgbClr val="4F8F12"/>
                </a:solidFill>
                <a:latin typeface="Arial"/>
              </a:rPr>
              <a:t> </a:t>
            </a:r>
            <a:r>
              <a:rPr lang="en-US" sz="1400" b="0" dirty="0">
                <a:solidFill>
                  <a:srgbClr val="4F8F12"/>
                </a:solidFill>
                <a:latin typeface="Arial"/>
              </a:rPr>
              <a:t>it’s</a:t>
            </a:r>
            <a:r>
              <a:rPr sz="1400" b="0" dirty="0">
                <a:solidFill>
                  <a:srgbClr val="4F8F12"/>
                </a:solidFill>
                <a:latin typeface="Arial"/>
              </a:rPr>
              <a:t> buried in a grid for authors.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73C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bamboohr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256032"/>
            <a:ext cx="1417320" cy="30417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331720" y="228600"/>
            <a:ext cx="914400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1100" b="1" dirty="0">
                <a:solidFill>
                  <a:srgbClr val="4F8F12"/>
                </a:solidFill>
                <a:latin typeface="Arial"/>
              </a:rPr>
              <a:t>Product Process</a:t>
            </a:r>
            <a:endParaRPr sz="1100" b="1" dirty="0">
              <a:solidFill>
                <a:srgbClr val="4F8F12"/>
              </a:solidFill>
              <a:latin typeface="Arial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2331720" y="457200"/>
            <a:ext cx="9326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2600" b="1" dirty="0">
                <a:solidFill>
                  <a:srgbClr val="1B1F17"/>
                </a:solidFill>
                <a:latin typeface="Arial"/>
              </a:rPr>
              <a:t>Cross-Functional Collaboration is a must</a:t>
            </a:r>
            <a:endParaRPr sz="2600" b="1" dirty="0">
              <a:solidFill>
                <a:srgbClr val="1B1F17"/>
              </a:solidFill>
              <a:latin typeface="Arial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2331720" y="960120"/>
            <a:ext cx="9326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1500" dirty="0">
                <a:solidFill>
                  <a:srgbClr val="6A7264"/>
                </a:solidFill>
                <a:latin typeface="Arial"/>
              </a:rPr>
              <a:t>Some of the teams I would collaborate with</a:t>
            </a:r>
            <a:endParaRPr sz="1500" b="0" dirty="0">
              <a:solidFill>
                <a:srgbClr val="6A7264"/>
              </a:solidFill>
              <a:latin typeface="Arial"/>
            </a:endParaRPr>
          </a:p>
        </p:txBody>
      </p:sp>
      <p:sp>
        <p:nvSpPr>
          <p:cNvPr id="7" name="Rounded Rectangle 6"/>
          <p:cNvSpPr/>
          <p:nvPr/>
        </p:nvSpPr>
        <p:spPr>
          <a:xfrm>
            <a:off x="685800" y="1508760"/>
            <a:ext cx="3520440" cy="2057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E6EA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914400" y="1783080"/>
            <a:ext cx="30632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B1F17"/>
                </a:solidFill>
                <a:latin typeface="Arial"/>
              </a:rPr>
              <a:t>Product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331720"/>
            <a:ext cx="3063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6A7264"/>
                </a:solidFill>
                <a:latin typeface="Arial"/>
              </a:rPr>
              <a:t>I own the problem statement and the cuts. I keep a visible decision log so Engineering and Design never guess what “done” means.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34840" y="1508760"/>
            <a:ext cx="3520440" cy="2057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E6EA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663440" y="1783080"/>
            <a:ext cx="30632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B1F17"/>
                </a:solidFill>
                <a:latin typeface="Arial"/>
              </a:rPr>
              <a:t>Finance (customer + internal FP&amp;A)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0" y="2331720"/>
            <a:ext cx="3063240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dirty="0">
                <a:solidFill>
                  <a:srgbClr val="6A7264"/>
                </a:solidFill>
                <a:latin typeface="Arial"/>
              </a:rPr>
              <a:t>I sit in their close ritual. I learn their words</a:t>
            </a:r>
            <a:r>
              <a:rPr lang="en-US" sz="1400" b="0" dirty="0">
                <a:solidFill>
                  <a:srgbClr val="6A7264"/>
                </a:solidFill>
                <a:latin typeface="Arial"/>
              </a:rPr>
              <a:t>, </a:t>
            </a:r>
            <a:r>
              <a:rPr sz="1400" b="0" dirty="0">
                <a:solidFill>
                  <a:srgbClr val="6A7264"/>
                </a:solidFill>
                <a:latin typeface="Arial"/>
              </a:rPr>
              <a:t>approved plan, working plan, filled</a:t>
            </a:r>
            <a:r>
              <a:rPr lang="en-US" sz="1400" b="0" dirty="0">
                <a:solidFill>
                  <a:srgbClr val="6A7264"/>
                </a:solidFill>
                <a:latin typeface="Arial"/>
              </a:rPr>
              <a:t>, </a:t>
            </a:r>
            <a:r>
              <a:rPr sz="1400" b="0" dirty="0">
                <a:solidFill>
                  <a:srgbClr val="6A7264"/>
                </a:solidFill>
                <a:latin typeface="Arial"/>
              </a:rPr>
              <a:t> and pressure-test every screen against a real recon week.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83879" y="1508760"/>
            <a:ext cx="3520440" cy="2057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E6EA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8412479" y="1783080"/>
            <a:ext cx="30632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B1F17"/>
                </a:solidFill>
                <a:latin typeface="Arial"/>
              </a:rPr>
              <a:t>HR / People ops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79" y="2331720"/>
            <a:ext cx="3063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6A7264"/>
                </a:solidFill>
                <a:latin typeface="Arial"/>
              </a:rPr>
              <a:t>I co-design dispositions inside HR’s flow, not as a Finance bolt-on. If they won’t tag a Tuesday attrition, the product failed.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85800" y="3794760"/>
            <a:ext cx="3520440" cy="2057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E6EA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914400" y="4069080"/>
            <a:ext cx="30632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B1F17"/>
                </a:solidFill>
                <a:latin typeface="Arial"/>
              </a:rPr>
              <a:t>Design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4617720"/>
            <a:ext cx="3063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6A7264"/>
                </a:solidFill>
                <a:latin typeface="Arial"/>
              </a:rPr>
              <a:t>I pair early on the 30-second test: can a first-time user explain the gap? If not, we redesign before we add features.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434840" y="3794760"/>
            <a:ext cx="3520440" cy="2057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E6EA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4663440" y="4069080"/>
            <a:ext cx="30632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B1F17"/>
                </a:solidFill>
                <a:latin typeface="Arial"/>
              </a:rPr>
              <a:t>Engineering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663440" y="4617720"/>
            <a:ext cx="3063240" cy="11695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dirty="0">
                <a:solidFill>
                  <a:srgbClr val="6A7264"/>
                </a:solidFill>
                <a:latin typeface="Arial"/>
              </a:rPr>
              <a:t>I negotiate automation vs manual update with them. We agree source of truth, audit, and what’s intentionally human</a:t>
            </a:r>
            <a:r>
              <a:rPr lang="en-US" sz="1400" b="0" dirty="0">
                <a:solidFill>
                  <a:srgbClr val="6A7264"/>
                </a:solidFill>
                <a:latin typeface="Arial"/>
              </a:rPr>
              <a:t>,</a:t>
            </a:r>
            <a:r>
              <a:rPr sz="1400" b="0" dirty="0">
                <a:solidFill>
                  <a:srgbClr val="6A7264"/>
                </a:solidFill>
                <a:latin typeface="Arial"/>
              </a:rPr>
              <a:t> before we write tickets.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183879" y="3794760"/>
            <a:ext cx="3520440" cy="2057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E6EA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8412479" y="4069080"/>
            <a:ext cx="30632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B1F17"/>
                </a:solidFill>
                <a:latin typeface="Arial"/>
              </a:rPr>
              <a:t>Implementation / CS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412479" y="4617720"/>
            <a:ext cx="3063240" cy="11695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dirty="0">
                <a:solidFill>
                  <a:srgbClr val="6A7264"/>
                </a:solidFill>
                <a:latin typeface="Arial"/>
              </a:rPr>
              <a:t>I pull them in before GA. Spreadsheet migration, glossary, and pilot success criteria are product work</a:t>
            </a:r>
            <a:r>
              <a:rPr lang="en-US" sz="1400" b="0" dirty="0">
                <a:solidFill>
                  <a:srgbClr val="6A7264"/>
                </a:solidFill>
                <a:latin typeface="Arial"/>
              </a:rPr>
              <a:t>, </a:t>
            </a:r>
            <a:r>
              <a:rPr sz="1400" b="0" dirty="0">
                <a:solidFill>
                  <a:srgbClr val="6A7264"/>
                </a:solidFill>
                <a:latin typeface="Arial"/>
              </a:rPr>
              <a:t> not a surprise for support.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5800" y="6537960"/>
            <a:ext cx="9144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A7264"/>
                </a:solidFill>
                <a:latin typeface="Arial"/>
              </a:rPr>
              <a:t>BambooHR interview case study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155680" y="6537960"/>
            <a:ext cx="731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A7264"/>
                </a:solidFill>
                <a:latin typeface="Arial"/>
              </a:rPr>
              <a:t>10/16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73C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bamboohr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256032"/>
            <a:ext cx="1417320" cy="30417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331720" y="228600"/>
            <a:ext cx="9144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4F8F12"/>
                </a:solidFill>
                <a:latin typeface="Arial"/>
              </a:rPr>
              <a:t>INTERVIEWS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331720" y="457200"/>
            <a:ext cx="9326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dirty="0">
                <a:solidFill>
                  <a:srgbClr val="1B1F17"/>
                </a:solidFill>
                <a:latin typeface="Arial"/>
              </a:rPr>
              <a:t>What we have</a:t>
            </a:r>
            <a:r>
              <a:rPr lang="en-US" sz="2600" b="1" dirty="0">
                <a:solidFill>
                  <a:srgbClr val="1B1F17"/>
                </a:solidFill>
                <a:latin typeface="Arial"/>
              </a:rPr>
              <a:t>, where I would continue</a:t>
            </a:r>
            <a:endParaRPr sz="2600" b="1" dirty="0">
              <a:solidFill>
                <a:srgbClr val="1B1F17"/>
              </a:solidFill>
              <a:latin typeface="Arial"/>
            </a:endParaRPr>
          </a:p>
        </p:txBody>
      </p:sp>
      <p:sp>
        <p:nvSpPr>
          <p:cNvPr id="6" name="Rounded Rectangle 5"/>
          <p:cNvSpPr/>
          <p:nvPr/>
        </p:nvSpPr>
        <p:spPr>
          <a:xfrm>
            <a:off x="685800" y="1508760"/>
            <a:ext cx="5394960" cy="42976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E6EA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4F8F12"/>
                </a:solidFill>
                <a:latin typeface="Arial"/>
              </a:rPr>
              <a:t>In hand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286000"/>
            <a:ext cx="4754880" cy="235449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l">
              <a:buFont typeface="Arial" panose="020B0604020202020204" pitchFamily="34" charset="0"/>
              <a:buChar char="•"/>
            </a:pPr>
            <a:r>
              <a:rPr sz="1500" b="0" dirty="0">
                <a:solidFill>
                  <a:srgbClr val="1B1F17"/>
                </a:solidFill>
                <a:latin typeface="Arial"/>
              </a:rPr>
              <a:t>Head of Finance conversation (exact quotes)</a:t>
            </a:r>
            <a:endParaRPr lang="en-US" sz="1500" b="0" dirty="0">
              <a:solidFill>
                <a:srgbClr val="1B1F17"/>
              </a:solidFill>
              <a:latin typeface="Arial"/>
            </a:endParaRPr>
          </a:p>
          <a:p>
            <a:pPr marL="285750" indent="-285750" algn="l">
              <a:buFont typeface="Arial" panose="020B0604020202020204" pitchFamily="34" charset="0"/>
              <a:buChar char="•"/>
            </a:pPr>
            <a:endParaRPr lang="en-US" sz="1500" dirty="0">
              <a:solidFill>
                <a:srgbClr val="1B1F17"/>
              </a:solidFill>
              <a:latin typeface="Arial"/>
            </a:endParaRPr>
          </a:p>
          <a:p>
            <a:pPr algn="l"/>
            <a:endParaRPr lang="en-US" sz="1500" b="0" dirty="0">
              <a:solidFill>
                <a:srgbClr val="1B1F17"/>
              </a:solidFill>
              <a:latin typeface="Arial"/>
            </a:endParaRP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sz="1500" b="0" dirty="0">
                <a:solidFill>
                  <a:srgbClr val="1B1F17"/>
                </a:solidFill>
                <a:latin typeface="Arial"/>
              </a:rPr>
              <a:t>Live multi-tab workbook: approved plan / roll-forward / HC recon / net-new</a:t>
            </a:r>
            <a:endParaRPr lang="en-US" sz="1500" b="0" dirty="0">
              <a:solidFill>
                <a:srgbClr val="1B1F17"/>
              </a:solidFill>
              <a:latin typeface="Arial"/>
            </a:endParaRPr>
          </a:p>
          <a:p>
            <a:pPr marL="285750" indent="-285750" algn="l">
              <a:buFont typeface="Arial" panose="020B0604020202020204" pitchFamily="34" charset="0"/>
              <a:buChar char="•"/>
            </a:pPr>
            <a:endParaRPr lang="en-US" sz="1500" dirty="0">
              <a:solidFill>
                <a:srgbClr val="1B1F17"/>
              </a:solidFill>
              <a:latin typeface="Arial"/>
            </a:endParaRPr>
          </a:p>
          <a:p>
            <a:pPr marL="285750" indent="-285750" algn="l">
              <a:buFont typeface="Arial" panose="020B0604020202020204" pitchFamily="34" charset="0"/>
              <a:buChar char="•"/>
            </a:pPr>
            <a:endParaRPr lang="en-US" sz="1500" dirty="0">
              <a:solidFill>
                <a:srgbClr val="1B1F17"/>
              </a:solidFill>
              <a:latin typeface="Arial"/>
            </a:endParaRP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sz="1400" b="0" dirty="0">
                <a:solidFill>
                  <a:srgbClr val="1B1F17"/>
                </a:solidFill>
                <a:latin typeface="Arial"/>
              </a:rPr>
              <a:t>Follow-up: name what’s behind the gap, clear as-of, not backfilling + pivots, drop contractors, tell the story, manual mid-cycle edits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09360" y="1508760"/>
            <a:ext cx="5212080" cy="4297680"/>
          </a:xfrm>
          <a:prstGeom prst="roundRect">
            <a:avLst>
              <a:gd name="adj" fmla="val 6000"/>
            </a:avLst>
          </a:prstGeom>
          <a:solidFill>
            <a:srgbClr val="F3F8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629400" y="1783080"/>
            <a:ext cx="466344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dirty="0">
                <a:solidFill>
                  <a:srgbClr val="4F8F12"/>
                </a:solidFill>
                <a:latin typeface="Arial"/>
              </a:rPr>
              <a:t>Next five interviews</a:t>
            </a:r>
            <a:r>
              <a:rPr lang="en-US" sz="1400" b="1" dirty="0">
                <a:solidFill>
                  <a:srgbClr val="4F8F12"/>
                </a:solidFill>
                <a:latin typeface="Arial"/>
              </a:rPr>
              <a:t> (more to follow)</a:t>
            </a:r>
            <a:endParaRPr sz="1400" b="1" dirty="0">
              <a:solidFill>
                <a:srgbClr val="4F8F12"/>
              </a:solidFill>
              <a:latin typeface="Arial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6629400" y="2286000"/>
            <a:ext cx="4663440" cy="33239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l">
              <a:buFont typeface="Arial" panose="020B0604020202020204" pitchFamily="34" charset="0"/>
              <a:buChar char="•"/>
            </a:pPr>
            <a:r>
              <a:rPr sz="1500" b="0" dirty="0">
                <a:solidFill>
                  <a:srgbClr val="1B1F17"/>
                </a:solidFill>
                <a:latin typeface="Arial"/>
              </a:rPr>
              <a:t>FP&amp;A lead — close ritual &amp; recon hours</a:t>
            </a:r>
            <a:endParaRPr lang="en-US" sz="1500" b="0" dirty="0">
              <a:solidFill>
                <a:srgbClr val="1B1F17"/>
              </a:solidFill>
              <a:latin typeface="Arial"/>
            </a:endParaRPr>
          </a:p>
          <a:p>
            <a:pPr marL="285750" indent="-285750" algn="l">
              <a:buFont typeface="Arial" panose="020B0604020202020204" pitchFamily="34" charset="0"/>
              <a:buChar char="•"/>
            </a:pPr>
            <a:endParaRPr lang="en-US" sz="1500" dirty="0">
              <a:solidFill>
                <a:srgbClr val="1B1F17"/>
              </a:solidFill>
              <a:latin typeface="Arial"/>
            </a:endParaRPr>
          </a:p>
          <a:p>
            <a:pPr marL="285750" indent="-285750" algn="l">
              <a:buFont typeface="Arial" panose="020B0604020202020204" pitchFamily="34" charset="0"/>
              <a:buChar char="•"/>
            </a:pPr>
            <a:endParaRPr lang="en-US" sz="1500" b="0" dirty="0">
              <a:solidFill>
                <a:srgbClr val="1B1F17"/>
              </a:solidFill>
              <a:latin typeface="Arial"/>
            </a:endParaRP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sz="1500" b="0" dirty="0">
                <a:solidFill>
                  <a:srgbClr val="1B1F17"/>
                </a:solidFill>
                <a:latin typeface="Arial"/>
              </a:rPr>
              <a:t>HR ops — disposition SLA &amp; ticket path</a:t>
            </a:r>
            <a:endParaRPr lang="en-US" sz="1500" b="0" dirty="0">
              <a:solidFill>
                <a:srgbClr val="1B1F17"/>
              </a:solidFill>
              <a:latin typeface="Arial"/>
            </a:endParaRPr>
          </a:p>
          <a:p>
            <a:pPr marL="285750" indent="-285750" algn="l">
              <a:buFont typeface="Arial" panose="020B0604020202020204" pitchFamily="34" charset="0"/>
              <a:buChar char="•"/>
            </a:pPr>
            <a:endParaRPr lang="en-US" sz="1500" dirty="0">
              <a:solidFill>
                <a:srgbClr val="1B1F17"/>
              </a:solidFill>
              <a:latin typeface="Arial"/>
            </a:endParaRPr>
          </a:p>
          <a:p>
            <a:pPr marL="285750" indent="-285750" algn="l">
              <a:buFont typeface="Arial" panose="020B0604020202020204" pitchFamily="34" charset="0"/>
              <a:buChar char="•"/>
            </a:pPr>
            <a:endParaRPr lang="en-US" sz="1500" b="0" dirty="0">
              <a:solidFill>
                <a:srgbClr val="1B1F17"/>
              </a:solidFill>
              <a:latin typeface="Arial"/>
            </a:endParaRP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sz="1500" b="0" dirty="0">
                <a:solidFill>
                  <a:srgbClr val="1B1F17"/>
                </a:solidFill>
                <a:latin typeface="Arial"/>
              </a:rPr>
              <a:t>Hiring manager — request status need</a:t>
            </a:r>
            <a:endParaRPr lang="en-US" sz="1500" b="0" dirty="0">
              <a:solidFill>
                <a:srgbClr val="1B1F17"/>
              </a:solidFill>
              <a:latin typeface="Arial"/>
            </a:endParaRPr>
          </a:p>
          <a:p>
            <a:pPr marL="285750" indent="-285750" algn="l">
              <a:buFont typeface="Arial" panose="020B0604020202020204" pitchFamily="34" charset="0"/>
              <a:buChar char="•"/>
            </a:pPr>
            <a:endParaRPr lang="en-US" sz="1500" dirty="0">
              <a:solidFill>
                <a:srgbClr val="1B1F17"/>
              </a:solidFill>
              <a:latin typeface="Arial"/>
            </a:endParaRPr>
          </a:p>
          <a:p>
            <a:pPr marL="285750" indent="-285750" algn="l">
              <a:buFont typeface="Arial" panose="020B0604020202020204" pitchFamily="34" charset="0"/>
              <a:buChar char="•"/>
            </a:pPr>
            <a:endParaRPr lang="en-US" sz="1500" b="0" dirty="0">
              <a:solidFill>
                <a:srgbClr val="1B1F17"/>
              </a:solidFill>
              <a:latin typeface="Arial"/>
            </a:endParaRP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sz="1500" b="0" dirty="0">
                <a:solidFill>
                  <a:srgbClr val="1B1F17"/>
                </a:solidFill>
                <a:latin typeface="Arial"/>
              </a:rPr>
              <a:t>Controller / CFO — board report b</a:t>
            </a:r>
            <a:r>
              <a:rPr lang="en-US" sz="1500" b="0" dirty="0">
                <a:solidFill>
                  <a:srgbClr val="1B1F17"/>
                </a:solidFill>
                <a:latin typeface="Arial"/>
              </a:rPr>
              <a:t>ar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endParaRPr lang="en-US" sz="1500" dirty="0">
              <a:solidFill>
                <a:srgbClr val="1B1F17"/>
              </a:solidFill>
              <a:latin typeface="Arial"/>
            </a:endParaRPr>
          </a:p>
          <a:p>
            <a:pPr marL="285750" indent="-285750" algn="l">
              <a:buFont typeface="Arial" panose="020B0604020202020204" pitchFamily="34" charset="0"/>
              <a:buChar char="•"/>
            </a:pPr>
            <a:endParaRPr lang="en-US" sz="1500" b="0" dirty="0">
              <a:solidFill>
                <a:srgbClr val="1B1F17"/>
              </a:solidFill>
              <a:latin typeface="Arial"/>
            </a:endParaRP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sz="1500" b="0" dirty="0">
                <a:solidFill>
                  <a:srgbClr val="1B1F17"/>
                </a:solidFill>
                <a:latin typeface="Arial"/>
              </a:rPr>
              <a:t>Implementation lead — spreadsheet migration pain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6537960"/>
            <a:ext cx="9144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A7264"/>
                </a:solidFill>
                <a:latin typeface="Arial"/>
              </a:rPr>
              <a:t>BambooHR interview case study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155680" y="6537960"/>
            <a:ext cx="731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A7264"/>
                </a:solidFill>
                <a:latin typeface="Arial"/>
              </a:rPr>
              <a:t>11/16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73C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bamboohr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256032"/>
            <a:ext cx="1417320" cy="30417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331720" y="228600"/>
            <a:ext cx="9144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4F8F12"/>
                </a:solidFill>
                <a:latin typeface="Arial"/>
              </a:rPr>
              <a:t>ITERATIONS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331720" y="457200"/>
            <a:ext cx="9326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2600" b="1" dirty="0">
                <a:solidFill>
                  <a:srgbClr val="1B1F17"/>
                </a:solidFill>
                <a:latin typeface="Arial"/>
              </a:rPr>
              <a:t>Build, Iterate, Launch</a:t>
            </a:r>
            <a:endParaRPr sz="2600" b="1" dirty="0">
              <a:solidFill>
                <a:srgbClr val="1B1F17"/>
              </a:solidFill>
              <a:latin typeface="Arial"/>
            </a:endParaRPr>
          </a:p>
        </p:txBody>
      </p:sp>
      <p:sp>
        <p:nvSpPr>
          <p:cNvPr id="6" name="Rounded Rectangle 5"/>
          <p:cNvSpPr/>
          <p:nvPr/>
        </p:nvSpPr>
        <p:spPr>
          <a:xfrm>
            <a:off x="548640" y="1371600"/>
            <a:ext cx="5577840" cy="365760"/>
          </a:xfrm>
          <a:prstGeom prst="roundRect">
            <a:avLst>
              <a:gd name="adj" fmla="val 6000"/>
            </a:avLst>
          </a:prstGeom>
          <a:solidFill>
            <a:srgbClr val="F3F8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31520" y="1417320"/>
            <a:ext cx="5212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B1F17"/>
                </a:solidFill>
                <a:latin typeface="Arial"/>
              </a:rPr>
              <a:t>Story first  ·  Approved plan · filled · named gap</a:t>
            </a:r>
          </a:p>
        </p:txBody>
      </p:sp>
      <p:pic>
        <p:nvPicPr>
          <p:cNvPr id="8" name="Picture 7" descr="01-home-outlook-til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4360" y="1783080"/>
            <a:ext cx="4535126" cy="1874519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6355079" y="1371600"/>
            <a:ext cx="5577840" cy="365760"/>
          </a:xfrm>
          <a:prstGeom prst="roundRect">
            <a:avLst>
              <a:gd name="adj" fmla="val 6000"/>
            </a:avLst>
          </a:prstGeom>
          <a:solidFill>
            <a:srgbClr val="F3F8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537959" y="1417320"/>
            <a:ext cx="5212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B1F17"/>
                </a:solidFill>
                <a:latin typeface="Arial"/>
              </a:rPr>
              <a:t>Bridge  ·  Backfill · not backfilling · pivot</a:t>
            </a:r>
          </a:p>
        </p:txBody>
      </p:sp>
      <p:pic>
        <p:nvPicPr>
          <p:cNvPr id="11" name="Picture 10" descr="02-bridge-til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0799" y="1783080"/>
            <a:ext cx="4535126" cy="1874519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548640" y="3840480"/>
            <a:ext cx="5577840" cy="365760"/>
          </a:xfrm>
          <a:prstGeom prst="roundRect">
            <a:avLst>
              <a:gd name="adj" fmla="val 6000"/>
            </a:avLst>
          </a:prstGeom>
          <a:solidFill>
            <a:srgbClr val="F3F8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731520" y="3886200"/>
            <a:ext cx="5212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B1F17"/>
                </a:solidFill>
                <a:latin typeface="Arial"/>
              </a:rPr>
              <a:t>Manual update  ·  Mid-cycle edits systems miss</a:t>
            </a:r>
          </a:p>
        </p:txBody>
      </p:sp>
      <p:pic>
        <p:nvPicPr>
          <p:cNvPr id="14" name="Picture 13" descr="03-approvals-til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94360" y="4251960"/>
            <a:ext cx="4535126" cy="1874519"/>
          </a:xfrm>
          <a:prstGeom prst="rect">
            <a:avLst/>
          </a:prstGeom>
        </p:spPr>
      </p:pic>
      <p:sp>
        <p:nvSpPr>
          <p:cNvPr id="15" name="Rounded Rectangle 14"/>
          <p:cNvSpPr/>
          <p:nvPr/>
        </p:nvSpPr>
        <p:spPr>
          <a:xfrm>
            <a:off x="6355079" y="3840480"/>
            <a:ext cx="5577840" cy="365760"/>
          </a:xfrm>
          <a:prstGeom prst="roundRect">
            <a:avLst>
              <a:gd name="adj" fmla="val 6000"/>
            </a:avLst>
          </a:prstGeom>
          <a:solidFill>
            <a:srgbClr val="F3F8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537959" y="3886200"/>
            <a:ext cx="5212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B1F17"/>
                </a:solidFill>
                <a:latin typeface="Arial"/>
              </a:rPr>
              <a:t>Export  ·  Close-ready share-out</a:t>
            </a:r>
          </a:p>
        </p:txBody>
      </p:sp>
      <p:pic>
        <p:nvPicPr>
          <p:cNvPr id="17" name="Picture 16" descr="04-export-til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00799" y="4251960"/>
            <a:ext cx="4535126" cy="1874519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685800" y="6537960"/>
            <a:ext cx="9144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A7264"/>
                </a:solidFill>
                <a:latin typeface="Arial"/>
              </a:rPr>
              <a:t>BambooHR interview case study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155680" y="6537960"/>
            <a:ext cx="731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A7264"/>
                </a:solidFill>
                <a:latin typeface="Arial"/>
              </a:rPr>
              <a:t>12/16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73C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bamboohr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256032"/>
            <a:ext cx="1417320" cy="30417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331720" y="228600"/>
            <a:ext cx="9144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4F8F12"/>
                </a:solidFill>
                <a:latin typeface="Arial"/>
              </a:rPr>
              <a:t>SUCCESS METRICS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331720" y="457200"/>
            <a:ext cx="9326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dirty="0">
                <a:solidFill>
                  <a:srgbClr val="1B1F17"/>
                </a:solidFill>
                <a:latin typeface="Arial"/>
              </a:rPr>
              <a:t>Measure understanding</a:t>
            </a:r>
            <a:r>
              <a:rPr lang="en-US" sz="2600" b="1" dirty="0">
                <a:solidFill>
                  <a:srgbClr val="1B1F17"/>
                </a:solidFill>
                <a:latin typeface="Arial"/>
              </a:rPr>
              <a:t>. Did this work? </a:t>
            </a:r>
            <a:endParaRPr sz="2600" b="1" dirty="0">
              <a:solidFill>
                <a:srgbClr val="1B1F17"/>
              </a:solidFill>
              <a:latin typeface="Arial"/>
            </a:endParaRPr>
          </a:p>
        </p:txBody>
      </p:sp>
      <p:sp>
        <p:nvSpPr>
          <p:cNvPr id="6" name="Rounded Rectangle 5"/>
          <p:cNvSpPr/>
          <p:nvPr/>
        </p:nvSpPr>
        <p:spPr>
          <a:xfrm>
            <a:off x="685800" y="1508760"/>
            <a:ext cx="3520440" cy="20116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E6EA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685800" y="1508760"/>
            <a:ext cx="3520440" cy="73152"/>
          </a:xfrm>
          <a:prstGeom prst="rect">
            <a:avLst/>
          </a:prstGeom>
          <a:solidFill>
            <a:srgbClr val="73C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914400" y="1828800"/>
            <a:ext cx="3063240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dirty="0">
                <a:solidFill>
                  <a:srgbClr val="1B1F17"/>
                </a:solidFill>
                <a:latin typeface="Arial"/>
              </a:rPr>
              <a:t>Time to understand H</a:t>
            </a:r>
            <a:r>
              <a:rPr lang="en-US" sz="1500" b="1" dirty="0">
                <a:solidFill>
                  <a:srgbClr val="1B1F17"/>
                </a:solidFill>
                <a:latin typeface="Arial"/>
              </a:rPr>
              <a:t>eadcount</a:t>
            </a:r>
            <a:r>
              <a:rPr sz="1500" b="1" dirty="0">
                <a:solidFill>
                  <a:srgbClr val="1B1F17"/>
                </a:solidFill>
                <a:latin typeface="Arial"/>
              </a:rPr>
              <a:t> @ close date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514600"/>
            <a:ext cx="3063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4F8F12"/>
                </a:solidFill>
                <a:latin typeface="Arial"/>
              </a:rPr>
              <a:t>&lt; 30 seconds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2971800"/>
            <a:ext cx="3063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A7264"/>
                </a:solidFill>
                <a:latin typeface="Arial"/>
              </a:rPr>
              <a:t>Comprehension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34840" y="1508760"/>
            <a:ext cx="3520440" cy="20116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E6EA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4434840" y="1508760"/>
            <a:ext cx="3520440" cy="73152"/>
          </a:xfrm>
          <a:prstGeom prst="rect">
            <a:avLst/>
          </a:prstGeom>
          <a:solidFill>
            <a:srgbClr val="73C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663440" y="1828800"/>
            <a:ext cx="3063240" cy="3231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dirty="0">
                <a:solidFill>
                  <a:srgbClr val="1B1F17"/>
                </a:solidFill>
                <a:latin typeface="Arial"/>
              </a:rPr>
              <a:t>Month-end reconciliation time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63440" y="2514600"/>
            <a:ext cx="3063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4F8F12"/>
                </a:solidFill>
                <a:latin typeface="Arial"/>
              </a:rPr>
              <a:t>Hours → minutes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63440" y="2971800"/>
            <a:ext cx="3063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A7264"/>
                </a:solidFill>
                <a:latin typeface="Arial"/>
              </a:rPr>
              <a:t>Speed + resilience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83879" y="1508760"/>
            <a:ext cx="3520440" cy="20116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E6EA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8183879" y="1508760"/>
            <a:ext cx="3520440" cy="73152"/>
          </a:xfrm>
          <a:prstGeom prst="rect">
            <a:avLst/>
          </a:prstGeom>
          <a:solidFill>
            <a:srgbClr val="73C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8412479" y="1828800"/>
            <a:ext cx="3063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B1F17"/>
                </a:solidFill>
                <a:latin typeface="Arial"/>
              </a:rPr>
              <a:t>Disposition logged on attrition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12479" y="2514600"/>
            <a:ext cx="3063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4F8F12"/>
                </a:solidFill>
                <a:latin typeface="Arial"/>
              </a:rPr>
              <a:t>% of exits tagged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12479" y="2971800"/>
            <a:ext cx="3063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A7264"/>
                </a:solidFill>
                <a:latin typeface="Arial"/>
              </a:rPr>
              <a:t>HR–Finance cohesion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85800" y="3749039"/>
            <a:ext cx="3520440" cy="20116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E6EA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685800" y="3749039"/>
            <a:ext cx="3520440" cy="73152"/>
          </a:xfrm>
          <a:prstGeom prst="rect">
            <a:avLst/>
          </a:prstGeom>
          <a:solidFill>
            <a:srgbClr val="73C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914400" y="4069079"/>
            <a:ext cx="3063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B1F17"/>
                </a:solidFill>
                <a:latin typeface="Arial"/>
              </a:rPr>
              <a:t>Unexplained dept gaps at close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4400" y="4754879"/>
            <a:ext cx="3063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4F8F12"/>
                </a:solidFill>
                <a:latin typeface="Arial"/>
              </a:rPr>
              <a:t>→ 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4400" y="5212079"/>
            <a:ext cx="3063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A7264"/>
                </a:solidFill>
                <a:latin typeface="Arial"/>
              </a:rPr>
              <a:t>Named drivers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434840" y="3749039"/>
            <a:ext cx="3520440" cy="20116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E6EA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4434840" y="3749039"/>
            <a:ext cx="3520440" cy="73152"/>
          </a:xfrm>
          <a:prstGeom prst="rect">
            <a:avLst/>
          </a:prstGeom>
          <a:solidFill>
            <a:srgbClr val="73C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4663440" y="4069079"/>
            <a:ext cx="3063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B1F17"/>
                </a:solidFill>
                <a:latin typeface="Arial"/>
              </a:rPr>
              <a:t>Variance follow-ups / close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663440" y="4754879"/>
            <a:ext cx="3063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4F8F12"/>
                </a:solidFill>
                <a:latin typeface="Arial"/>
              </a:rPr>
              <a:t>Fewer threads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663440" y="5212079"/>
            <a:ext cx="3063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A7264"/>
                </a:solidFill>
                <a:latin typeface="Arial"/>
              </a:rPr>
              <a:t>Trust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183879" y="3749039"/>
            <a:ext cx="3520440" cy="20116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E6EA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Rectangle 31"/>
          <p:cNvSpPr/>
          <p:nvPr/>
        </p:nvSpPr>
        <p:spPr>
          <a:xfrm>
            <a:off x="8183879" y="3749039"/>
            <a:ext cx="3520440" cy="73152"/>
          </a:xfrm>
          <a:prstGeom prst="rect">
            <a:avLst/>
          </a:prstGeom>
          <a:solidFill>
            <a:srgbClr val="73C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8412479" y="4069079"/>
            <a:ext cx="3063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B1F17"/>
                </a:solidFill>
                <a:latin typeface="Arial"/>
              </a:rPr>
              <a:t>Weekly active Finance + HR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412479" y="4754879"/>
            <a:ext cx="3063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4F8F12"/>
                </a:solidFill>
                <a:latin typeface="Arial"/>
              </a:rPr>
              <a:t>Both personas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412479" y="5212079"/>
            <a:ext cx="3063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A7264"/>
                </a:solidFill>
                <a:latin typeface="Arial"/>
              </a:rPr>
              <a:t>Real use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85800" y="6537960"/>
            <a:ext cx="9144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A7264"/>
                </a:solidFill>
                <a:latin typeface="Arial"/>
              </a:rPr>
              <a:t>BambooHR interview case study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1155680" y="6537960"/>
            <a:ext cx="731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A7264"/>
                </a:solidFill>
                <a:latin typeface="Arial"/>
              </a:rPr>
              <a:t>14/16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73C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bamboohr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256032"/>
            <a:ext cx="1417320" cy="30417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331720" y="228600"/>
            <a:ext cx="9144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4F8F12"/>
                </a:solidFill>
                <a:latin typeface="Arial"/>
              </a:rPr>
              <a:t>ILLUSTRATIVE IMPACT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331720" y="457200"/>
            <a:ext cx="9326880" cy="4924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2600" b="1" dirty="0">
                <a:solidFill>
                  <a:srgbClr val="1B1F17"/>
                </a:solidFill>
                <a:latin typeface="Arial"/>
              </a:rPr>
              <a:t>Potential Impact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371600"/>
            <a:ext cx="10972800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1300" b="1" dirty="0">
                <a:solidFill>
                  <a:srgbClr val="6A7264"/>
                </a:solidFill>
                <a:latin typeface="Arial"/>
              </a:rPr>
              <a:t>Modeled for a ~ 300 Employee company</a:t>
            </a:r>
            <a:endParaRPr sz="1300" b="1" dirty="0">
              <a:solidFill>
                <a:srgbClr val="6A7264"/>
              </a:solidFill>
              <a:latin typeface="Arial"/>
            </a:endParaRPr>
          </a:p>
        </p:txBody>
      </p:sp>
      <p:sp>
        <p:nvSpPr>
          <p:cNvPr id="7" name="Rounded Rectangle 6"/>
          <p:cNvSpPr/>
          <p:nvPr/>
        </p:nvSpPr>
        <p:spPr>
          <a:xfrm>
            <a:off x="685800" y="1920240"/>
            <a:ext cx="3520440" cy="3657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E6EA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960120" y="2286000"/>
            <a:ext cx="2971800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2400" b="1" dirty="0">
                <a:solidFill>
                  <a:srgbClr val="4F8F12"/>
                </a:solidFill>
                <a:latin typeface="Arial"/>
              </a:rPr>
              <a:t>Redundancy in place </a:t>
            </a:r>
            <a:endParaRPr sz="2400" b="1" dirty="0">
              <a:solidFill>
                <a:srgbClr val="4F8F12"/>
              </a:solidFill>
              <a:latin typeface="Arial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960120" y="3200400"/>
            <a:ext cx="2971800" cy="7848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1500" b="0" dirty="0">
                <a:solidFill>
                  <a:srgbClr val="1B1F17"/>
                </a:solidFill>
                <a:latin typeface="Arial"/>
              </a:rPr>
              <a:t>More than one person can explain the gap — so recon isn’t a single point of failure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4754880"/>
            <a:ext cx="2971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A7264"/>
                </a:solidFill>
                <a:latin typeface="Arial"/>
              </a:rPr>
              <a:t>Answers the “hit by a bus” risk from Finance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34840" y="1920240"/>
            <a:ext cx="3520440" cy="3657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E6EA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709160" y="2286000"/>
            <a:ext cx="29718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dirty="0">
                <a:solidFill>
                  <a:srgbClr val="4F8F12"/>
                </a:solidFill>
                <a:latin typeface="Arial"/>
              </a:rPr>
              <a:t>&lt; 30 min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09160" y="3200400"/>
            <a:ext cx="2971800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dirty="0">
                <a:solidFill>
                  <a:srgbClr val="1B1F17"/>
                </a:solidFill>
                <a:latin typeface="Arial"/>
              </a:rPr>
              <a:t>Target time to a trusted view
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09160" y="4754880"/>
            <a:ext cx="2971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A7264"/>
                </a:solidFill>
                <a:latin typeface="Arial"/>
              </a:rPr>
              <a:t>North-star product goal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83879" y="1920240"/>
            <a:ext cx="3520440" cy="3657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E6EA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458199" y="2286000"/>
            <a:ext cx="29718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dirty="0">
                <a:solidFill>
                  <a:srgbClr val="4F8F12"/>
                </a:solidFill>
                <a:latin typeface="Arial"/>
              </a:rPr>
              <a:t>~40–60%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58199" y="3200400"/>
            <a:ext cx="29718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1B1F17"/>
                </a:solidFill>
                <a:latin typeface="Arial"/>
              </a:rPr>
              <a:t>Recon-time reductions seen
in HRIS–FP&amp;A integration cases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58199" y="4754880"/>
            <a:ext cx="2971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A7264"/>
                </a:solidFill>
                <a:latin typeface="Arial"/>
              </a:rPr>
              <a:t>IJIRMPS / industry pattern — validate in pilot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6537960"/>
            <a:ext cx="9144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A7264"/>
                </a:solidFill>
                <a:latin typeface="Arial"/>
              </a:rPr>
              <a:t>BambooHR interview case study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55680" y="6537960"/>
            <a:ext cx="731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A7264"/>
                </a:solidFill>
                <a:latin typeface="Arial"/>
              </a:rPr>
              <a:t>15/16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73C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bamboohr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1188720"/>
            <a:ext cx="2011680" cy="43173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22960" y="2369735"/>
            <a:ext cx="10645140" cy="33496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</a:pPr>
            <a:r>
              <a:rPr sz="4000" b="1" dirty="0">
                <a:solidFill>
                  <a:srgbClr val="4F8F12"/>
                </a:solidFill>
                <a:latin typeface="Arial"/>
              </a:rPr>
              <a:t>Key takeaway</a:t>
            </a:r>
          </a:p>
          <a:p>
            <a:pPr>
              <a:spcBef>
                <a:spcPts val="1400"/>
              </a:spcBef>
            </a:pPr>
            <a:r>
              <a:rPr sz="4000" b="1" dirty="0">
                <a:solidFill>
                  <a:srgbClr val="1B1F17"/>
                </a:solidFill>
                <a:latin typeface="Arial"/>
              </a:rPr>
              <a:t>Headcount recon shouldn’t</a:t>
            </a:r>
            <a:r>
              <a:rPr lang="en-US" sz="4000" b="1" dirty="0">
                <a:solidFill>
                  <a:srgbClr val="1B1F17"/>
                </a:solidFill>
                <a:latin typeface="Arial"/>
              </a:rPr>
              <a:t> be complicated,</a:t>
            </a:r>
            <a:r>
              <a:rPr sz="4000" b="1" dirty="0">
                <a:solidFill>
                  <a:srgbClr val="1B1F17"/>
                </a:solidFill>
                <a:latin typeface="Arial"/>
              </a:rPr>
              <a:t> live in one person’s head</a:t>
            </a:r>
            <a:r>
              <a:rPr lang="en-US" sz="4000" b="1" dirty="0">
                <a:solidFill>
                  <a:srgbClr val="1B1F17"/>
                </a:solidFill>
                <a:latin typeface="Arial"/>
              </a:rPr>
              <a:t>,</a:t>
            </a:r>
            <a:r>
              <a:rPr sz="4000" b="1" dirty="0">
                <a:solidFill>
                  <a:srgbClr val="1B1F17"/>
                </a:solidFill>
                <a:latin typeface="Arial"/>
              </a:rPr>
              <a:t> or one spreadsheet.</a:t>
            </a:r>
            <a:r>
              <a:rPr lang="en-US" sz="4000" b="1" dirty="0">
                <a:solidFill>
                  <a:srgbClr val="1B1F17"/>
                </a:solidFill>
                <a:latin typeface="Arial"/>
              </a:rPr>
              <a:t> With our “Headcount Control Tower” </a:t>
            </a:r>
            <a:r>
              <a:rPr lang="en-US" sz="4000" b="1">
                <a:solidFill>
                  <a:srgbClr val="1B1F17"/>
                </a:solidFill>
                <a:latin typeface="Arial"/>
              </a:rPr>
              <a:t>we can fix this.</a:t>
            </a:r>
            <a:endParaRPr sz="4000" b="1" dirty="0">
              <a:solidFill>
                <a:srgbClr val="1B1F17"/>
              </a:solidFill>
              <a:latin typeface="Arial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11155680" y="6537960"/>
            <a:ext cx="73152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0">
                <a:solidFill>
                  <a:srgbClr val="6A7264"/>
                </a:solidFill>
                <a:latin typeface="Arial"/>
              </a:rPr>
              <a:t>16/16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6537960"/>
            <a:ext cx="9144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6A7264"/>
                </a:solidFill>
                <a:latin typeface="Arial"/>
              </a:rPr>
              <a:t>BambooHR interview case study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73C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256032"/>
            <a:ext cx="1417320" cy="30417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331720" y="228600"/>
            <a:ext cx="9144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</a:pPr>
            <a:r>
              <a:rPr sz="1100" b="1">
                <a:solidFill>
                  <a:srgbClr val="4F8F12"/>
                </a:solidFill>
                <a:latin typeface="Arial"/>
              </a:rPr>
              <a:t>THE PROTOTYPE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331720" y="457200"/>
            <a:ext cx="9326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</a:pPr>
            <a:r>
              <a:rPr sz="2600" b="1">
                <a:solidFill>
                  <a:srgbClr val="1B1F17"/>
                </a:solidFill>
                <a:latin typeface="Arial"/>
              </a:rPr>
              <a:t>What we built — and why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331720" y="960120"/>
            <a:ext cx="9326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</a:pPr>
            <a:r>
              <a:rPr sz="1500" b="0">
                <a:solidFill>
                  <a:srgbClr val="6A7264"/>
                </a:solidFill>
                <a:latin typeface="Arial"/>
              </a:rPr>
              <a:t>Each feature maps to a clear benefit for Finance and HR.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417320"/>
            <a:ext cx="5440680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E6EA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85800" y="1417320"/>
            <a:ext cx="73152" cy="1371600"/>
          </a:xfrm>
          <a:prstGeom prst="rect">
            <a:avLst/>
          </a:prstGeom>
          <a:solidFill>
            <a:srgbClr val="73C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1645920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</a:pPr>
            <a:r>
              <a:rPr sz="1600" b="1">
                <a:solidFill>
                  <a:srgbClr val="1B1F17"/>
                </a:solidFill>
                <a:latin typeface="Arial"/>
              </a:rPr>
              <a:t>Company story first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057400"/>
            <a:ext cx="4937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4F8F12"/>
                </a:solidFill>
                <a:latin typeface="Arial"/>
              </a:rPr>
              <a:t>Benefit: </a:t>
            </a:r>
            <a:r>
              <a:rPr sz="1400" b="0">
                <a:solidFill>
                  <a:srgbClr val="4F8F12"/>
                </a:solidFill>
                <a:latin typeface="Arial"/>
              </a:rPr>
              <a:t>Anyone can see plan vs filled — and what’s behind the gap — in seconds.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355080" y="1417320"/>
            <a:ext cx="5440680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E6EA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55080" y="1417320"/>
            <a:ext cx="73152" cy="1371600"/>
          </a:xfrm>
          <a:prstGeom prst="rect">
            <a:avLst/>
          </a:prstGeom>
          <a:solidFill>
            <a:srgbClr val="73C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29400" y="1645920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</a:pPr>
            <a:r>
              <a:rPr sz="1600" b="1">
                <a:solidFill>
                  <a:srgbClr val="1B1F17"/>
                </a:solidFill>
                <a:latin typeface="Arial"/>
              </a:rPr>
              <a:t>Clear as-of dates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29400" y="2057400"/>
            <a:ext cx="4937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4F8F12"/>
                </a:solidFill>
                <a:latin typeface="Arial"/>
              </a:rPr>
              <a:t>Benefit: </a:t>
            </a:r>
            <a:r>
              <a:rPr sz="1400" b="0">
                <a:solidFill>
                  <a:srgbClr val="4F8F12"/>
                </a:solidFill>
                <a:latin typeface="Arial"/>
              </a:rPr>
              <a:t>No confusion between “today” and month-end close.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85800" y="2971800"/>
            <a:ext cx="5440680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E6EA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85800" y="2971800"/>
            <a:ext cx="73152" cy="1371600"/>
          </a:xfrm>
          <a:prstGeom prst="rect">
            <a:avLst/>
          </a:prstGeom>
          <a:solidFill>
            <a:srgbClr val="73C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0120" y="3200400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</a:pPr>
            <a:r>
              <a:rPr sz="1600" b="1">
                <a:solidFill>
                  <a:srgbClr val="1B1F17"/>
                </a:solidFill>
                <a:latin typeface="Arial"/>
              </a:rPr>
              <a:t>Variance bridge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" y="3611880"/>
            <a:ext cx="4937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4F8F12"/>
                </a:solidFill>
                <a:latin typeface="Arial"/>
              </a:rPr>
              <a:t>Benefit: </a:t>
            </a:r>
            <a:r>
              <a:rPr sz="1400" b="0">
                <a:solidFill>
                  <a:srgbClr val="4F8F12"/>
                </a:solidFill>
                <a:latin typeface="Arial"/>
              </a:rPr>
              <a:t>The −2 is explained in plain steps, not buried in a grid.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355080" y="2971800"/>
            <a:ext cx="5440680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E6EA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355080" y="2971800"/>
            <a:ext cx="73152" cy="1371600"/>
          </a:xfrm>
          <a:prstGeom prst="rect">
            <a:avLst/>
          </a:prstGeom>
          <a:solidFill>
            <a:srgbClr val="73C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629400" y="3200400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</a:pPr>
            <a:r>
              <a:rPr sz="1600" b="1">
                <a:solidFill>
                  <a:srgbClr val="1B1F17"/>
                </a:solidFill>
                <a:latin typeface="Arial"/>
              </a:rPr>
              <a:t>Dispositions (backfill / not backfilling / pivot)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29400" y="3611880"/>
            <a:ext cx="4937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4F8F12"/>
                </a:solidFill>
                <a:latin typeface="Arial"/>
              </a:rPr>
              <a:t>Benefit: </a:t>
            </a:r>
            <a:r>
              <a:rPr sz="1400" b="0">
                <a:solidFill>
                  <a:srgbClr val="4F8F12"/>
                </a:solidFill>
                <a:latin typeface="Arial"/>
              </a:rPr>
              <a:t>Finance and HR share one language for what happened to a role.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85800" y="4526280"/>
            <a:ext cx="5440680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E6EA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85800" y="4526280"/>
            <a:ext cx="73152" cy="1371600"/>
          </a:xfrm>
          <a:prstGeom prst="rect">
            <a:avLst/>
          </a:prstGeom>
          <a:solidFill>
            <a:srgbClr val="73C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60120" y="4754880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</a:pPr>
            <a:r>
              <a:rPr sz="1600" b="1">
                <a:solidFill>
                  <a:srgbClr val="1B1F17"/>
                </a:solidFill>
                <a:latin typeface="Arial"/>
              </a:rPr>
              <a:t>Manual update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60120" y="5166360"/>
            <a:ext cx="4937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4F8F12"/>
                </a:solidFill>
                <a:latin typeface="Arial"/>
              </a:rPr>
              <a:t>Benefit: </a:t>
            </a:r>
            <a:r>
              <a:rPr sz="1400" b="0">
                <a:solidFill>
                  <a:srgbClr val="4F8F12"/>
                </a:solidFill>
                <a:latin typeface="Arial"/>
              </a:rPr>
              <a:t>Mid-cycle changes systems miss can still be logged and trusted.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355080" y="4526280"/>
            <a:ext cx="5440680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E6EA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355080" y="4526280"/>
            <a:ext cx="73152" cy="1371600"/>
          </a:xfrm>
          <a:prstGeom prst="rect">
            <a:avLst/>
          </a:prstGeom>
          <a:solidFill>
            <a:srgbClr val="73C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629400" y="4754880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</a:pPr>
            <a:r>
              <a:rPr sz="1600" b="1">
                <a:solidFill>
                  <a:srgbClr val="1B1F17"/>
                </a:solidFill>
                <a:latin typeface="Arial"/>
              </a:rPr>
              <a:t>Approvals + export preview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629400" y="5166360"/>
            <a:ext cx="4937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4F8F12"/>
                </a:solidFill>
                <a:latin typeface="Arial"/>
              </a:rPr>
              <a:t>Benefit: </a:t>
            </a:r>
            <a:r>
              <a:rPr sz="1400" b="0">
                <a:solidFill>
                  <a:srgbClr val="4F8F12"/>
                </a:solidFill>
                <a:latin typeface="Arial"/>
              </a:rPr>
              <a:t>Requests and the close package live in the same story — not a separate maze.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85800" y="6537960"/>
            <a:ext cx="9144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</a:pPr>
            <a:r>
              <a:rPr sz="1100" b="0">
                <a:solidFill>
                  <a:srgbClr val="6A7264"/>
                </a:solidFill>
                <a:latin typeface="Arial"/>
              </a:rPr>
              <a:t>BambooHR interview case study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155680" y="6537960"/>
            <a:ext cx="73152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0">
                <a:solidFill>
                  <a:srgbClr val="6A7264"/>
                </a:solidFill>
                <a:latin typeface="Arial"/>
              </a:rPr>
              <a:t>13/16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60</TotalTime>
  <Words>1768</Words>
  <Application>Microsoft Macintosh PowerPoint</Application>
  <PresentationFormat>Widescreen</PresentationFormat>
  <Paragraphs>207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Aran Bailey</cp:lastModifiedBy>
  <cp:revision>15</cp:revision>
  <dcterms:created xsi:type="dcterms:W3CDTF">2013-01-27T09:14:16Z</dcterms:created>
  <dcterms:modified xsi:type="dcterms:W3CDTF">2026-08-03T19:51:51Z</dcterms:modified>
  <cp:category/>
</cp:coreProperties>
</file>