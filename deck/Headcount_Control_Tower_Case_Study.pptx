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outcome. This deck is process; the live app is the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 is comprehension and alignment — not missing data. Comes from a real Utah Head of Finance 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Cite sources aloud. Point: if people cost dominates opex and spreadsheets dominate FP&amp;A, headcount recon is a first-class product problem for BambooHR’s finance buyers.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North star for every later decision. If it doesn’t help these people trust or decide, cut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Treat as reasons to believe. Pain = presentation failure. Opportunity = finance buying motion.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precise on attribution. Pattern: shared systems scarce; integration cuts recon time and speeds forecasts. Supports product 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helped generate; human kept five and mapped each to a UI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Honesty builds credibility: one deep signal + artifact analysis now; structured interviews before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 human nodes in green path. Weekly triad + glossary + source-of-truth agreement.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cuts: quotes off product UI; waterfall → bridge; working filters; history ranges; real logo; export preview.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North star: time to understand headcount at a given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explicit: illustrative. Validate hours in interviews. Pattern matches industry automation claims (TeamOhana/Drivetrain narrative of hours→minutes).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north star. Offer demo + pilot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54480"/>
            <a:ext cx="2194560" cy="4709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4688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1B1F17"/>
                </a:solidFill>
                <a:latin typeface="Arial"/>
              </a:rPr>
              <a:t>Headcount Control Tower</a:t>
            </a:r>
          </a:p>
          <a:p>
            <a:pPr algn="l">
              <a:spcBef>
                <a:spcPts val="1400"/>
              </a:spcBef>
            </a:pPr>
            <a:r>
              <a:rPr sz="2000" b="0">
                <a:solidFill>
                  <a:srgbClr val="6A7264"/>
                </a:solidFill>
                <a:latin typeface="Arial"/>
              </a:rPr>
              <a:t>Product discovery case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B1F17"/>
                </a:solidFill>
                <a:latin typeface="Arial"/>
              </a:rPr>
              <a:t>Make planned vs actual headcount understandable in 30 seconds.</a:t>
            </a:r>
          </a:p>
          <a:p>
            <a:pPr algn="l">
              <a:spcBef>
                <a:spcPts val="1000"/>
              </a:spcBef>
            </a:pPr>
            <a:r>
              <a:rPr sz="1400" b="0">
                <a:solidFill>
                  <a:srgbClr val="6A7264"/>
                </a:solidFill>
                <a:latin typeface="Arial"/>
              </a:rPr>
              <a:t>AI-augmented discovery  ·  Interactive prototype  ·  2–3 hour timebox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1F17"/>
                </a:solidFill>
                <a:latin typeface="Arial"/>
              </a:rPr>
              <a:t>Reconciliation is critical. The tools are unreadable.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5448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288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B1F17"/>
                </a:solidFill>
                <a:latin typeface="Arial"/>
              </a:rPr>
              <a:t>Many sources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26080"/>
            <a:ext cx="2926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A7264"/>
                </a:solidFill>
                <a:latin typeface="Arial"/>
              </a:rPr>
              <a:t>Board plan, roll-forward, HRIS actuals, and approvals live in separate tabs and systems.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5448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18288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2860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B1F17"/>
                </a:solidFill>
                <a:latin typeface="Arial"/>
              </a:rPr>
              <a:t>No shared language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926080"/>
            <a:ext cx="2926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A7264"/>
                </a:solidFill>
                <a:latin typeface="Arial"/>
              </a:rPr>
              <a:t>Backfill, net-new, contractor, and “approved” mean different things to Finance and HR.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55448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199" y="18288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199" y="22860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B1F17"/>
                </a:solidFill>
                <a:latin typeface="Arial"/>
              </a:rPr>
              <a:t>No trusted as-of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199" y="2926080"/>
            <a:ext cx="2926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A7264"/>
                </a:solidFill>
                <a:latin typeface="Arial"/>
              </a:rPr>
              <a:t>Leaders cannot answer headcount at a date without a rebuild — so trust erodes every close.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2/13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1F17"/>
                </a:solidFill>
                <a:latin typeface="Arial"/>
              </a:rPr>
              <a:t>People cost is the budget. Misaligned headcount is a strategy tax.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2971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4F8F12"/>
                </a:solidFill>
                <a:latin typeface="Arial"/>
              </a:rPr>
              <a:t>60–80%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108960"/>
            <a:ext cx="2971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B1F17"/>
                </a:solidFill>
                <a:latin typeface="Arial"/>
              </a:rPr>
              <a:t>of operating expense
is people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84632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Aleph / FP&amp;A industry framing,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011680"/>
            <a:ext cx="2971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4F8F12"/>
                </a:solidFill>
                <a:latin typeface="Arial"/>
              </a:rPr>
              <a:t>~70%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3108960"/>
            <a:ext cx="2971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B1F17"/>
                </a:solidFill>
                <a:latin typeface="Arial"/>
              </a:rPr>
              <a:t>of operating costs
are labor at most firms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484632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HR Bench on HR–Finance headcount alignment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199" y="2011680"/>
            <a:ext cx="2971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4F8F12"/>
                </a:solidFill>
                <a:latin typeface="Arial"/>
              </a:rPr>
              <a:t>99%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199" y="3108960"/>
            <a:ext cx="2971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B1F17"/>
                </a:solidFill>
                <a:latin typeface="Arial"/>
              </a:rPr>
              <a:t>of FP&amp;A pros use
spreadsheets monthly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199" y="484632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AFP FP&amp;A Benchmarking Survey, 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3/13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1F17"/>
                </a:solidFill>
                <a:latin typeface="Arial"/>
              </a:rPr>
              <a:t>Who wins when the number is trustworthy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Finance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69164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B1F17"/>
                </a:solidFill>
                <a:latin typeface="Arial"/>
              </a:rPr>
              <a:t>One explained variance story at close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6916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4F8F12"/>
                </a:solidFill>
                <a:latin typeface="Arial"/>
              </a:rPr>
              <a:t>Fewer recon threads · faster board answers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06039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80359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HR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788919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B1F17"/>
                </a:solidFill>
                <a:latin typeface="Arial"/>
              </a:rPr>
              <a:t>Clear ticket types and approval path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788919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4F8F12"/>
                </a:solidFill>
                <a:latin typeface="Arial"/>
              </a:rPr>
              <a:t>Backfills don’t masquerade as net-new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70332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9776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Managers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38862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B1F17"/>
                </a:solidFill>
                <a:latin typeface="Arial"/>
              </a:rPr>
              <a:t>Visible request status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8862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4F8F12"/>
                </a:solidFill>
                <a:latin typeface="Arial"/>
              </a:rPr>
              <a:t>Less tribal knowledge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80060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0749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BambooHR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498348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B1F17"/>
                </a:solidFill>
                <a:latin typeface="Arial"/>
              </a:rPr>
              <a:t>A reason for finance to care about HRIS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498348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4F8F12"/>
                </a:solidFill>
                <a:latin typeface="Arial"/>
              </a:rPr>
              <a:t>“Sell the finance department easier”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4/13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1F17"/>
                </a:solidFill>
                <a:latin typeface="Arial"/>
              </a:rPr>
              <a:t>Primary research — Head of Finance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54480"/>
            <a:ext cx="10972800" cy="201168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783080"/>
            <a:ext cx="10241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B1F17"/>
                </a:solidFill>
                <a:latin typeface="Arial"/>
              </a:rPr>
              <a:t>“Reconciliation is critical, but the presentation tools are complicated and nobody understands them”</a:t>
            </a:r>
          </a:p>
          <a:p>
            <a:pPr algn="l">
              <a:spcBef>
                <a:spcPts val="1400"/>
              </a:spcBef>
            </a:pPr>
            <a:r>
              <a:rPr sz="1400" b="1">
                <a:solidFill>
                  <a:srgbClr val="4F8F12"/>
                </a:solidFill>
                <a:latin typeface="Arial"/>
              </a:rPr>
              <a:t>— Head of Finance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840480"/>
            <a:ext cx="1097280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069080"/>
            <a:ext cx="10241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B1F17"/>
                </a:solidFill>
                <a:latin typeface="Arial"/>
              </a:rPr>
              <a:t>“If this product existed, you would sell the finance department much easier”</a:t>
            </a:r>
          </a:p>
          <a:p>
            <a:pPr algn="l">
              <a:spcBef>
                <a:spcPts val="1400"/>
              </a:spcBef>
            </a:pPr>
            <a:r>
              <a:rPr sz="1400" b="1">
                <a:solidFill>
                  <a:srgbClr val="4F8F12"/>
                </a:solidFill>
                <a:latin typeface="Arial"/>
              </a:rPr>
              <a:t>— Head of Finance  ·  Direct GTM signal for BambooHR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5/13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1F17"/>
                </a:solidFill>
                <a:latin typeface="Arial"/>
              </a:rPr>
              <a:t>Market pattern — this is not one company’s pain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2971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4F8F12"/>
                </a:solidFill>
                <a:latin typeface="Arial"/>
              </a:rPr>
              <a:t>72%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017520"/>
            <a:ext cx="2971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HR &amp; Finance lack shared systems
for workforce planning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84632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Cited via Kinnect (Gartner)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1965960"/>
            <a:ext cx="2971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4F8F12"/>
                </a:solidFill>
                <a:latin typeface="Arial"/>
              </a:rPr>
              <a:t>45%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3017520"/>
            <a:ext cx="2971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reduction in reconciliation time
after HRIS–FP&amp;A integration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484632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IJIRMPS healthcare case, 2025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199" y="1965960"/>
            <a:ext cx="2971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4F8F12"/>
                </a:solidFill>
                <a:latin typeface="Arial"/>
              </a:rPr>
              <a:t>20–30%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199" y="3017520"/>
            <a:ext cx="2971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faster forecasting cycles with
integrated planning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199" y="484632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McKinsey, cited in IJIRMPS 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6/13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HYPOTHESES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1F17"/>
                </a:solidFill>
                <a:latin typeface="Arial"/>
              </a:rPr>
              <a:t>Five beliefs we designed the prototype to test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508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Cognitive 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5087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Multi-tab recon exceeds working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5087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Story + one control tower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28600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4688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3774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Definition debt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3774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Backfill / new / contractor undefined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Type tags + shared glossary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15468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3375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2461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No decision object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24612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Approvals live outside the recon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32461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Ticket queue in-product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023359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206239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114799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Time blindness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4114799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No history or as-of snapshots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4114799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Ranges + audit trail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89204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0749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49834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Wrong default viz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498348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Grids serve authors, not leaders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9834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Bridge &gt; Sankey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7/13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INTERVIEWS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1F17"/>
                </a:solidFill>
                <a:latin typeface="Arial"/>
              </a:rPr>
              <a:t>What we have — and what we would learn next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539496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In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Head of Finance conversation (exact quotes)</a:t>
            </a:r>
          </a:p>
          <a:p>
            <a:pPr algn="l">
              <a:spcBef>
                <a:spcPts val="1400"/>
              </a:spcBef>
            </a:pPr>
            <a:r>
              <a:rPr sz="1500" b="0">
                <a:solidFill>
                  <a:srgbClr val="1B1F17"/>
                </a:solidFill>
                <a:latin typeface="Arial"/>
              </a:rPr>
              <a:t>Live spreadsheet: board / roll-forward / HC recon / net-new</a:t>
            </a:r>
          </a:p>
          <a:p>
            <a:pPr algn="l">
              <a:spcBef>
                <a:spcPts val="1400"/>
              </a:spcBef>
            </a:pPr>
            <a:r>
              <a:rPr sz="1500" b="0">
                <a:solidFill>
                  <a:srgbClr val="1B1F17"/>
                </a:solidFill>
                <a:latin typeface="Arial"/>
              </a:rPr>
              <a:t>Observed friction: definitions, as-of, approvals, unexplained variance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212080" cy="429768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7830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Next five interviews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286000"/>
            <a:ext cx="4663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FP&amp;A lead — close ritual &amp; variance questions</a:t>
            </a:r>
          </a:p>
          <a:p>
            <a:pPr algn="l">
              <a:spcBef>
                <a:spcPts val="1200"/>
              </a:spcBef>
            </a:pPr>
            <a:r>
              <a:rPr sz="1500" b="0">
                <a:solidFill>
                  <a:srgbClr val="1B1F17"/>
                </a:solidFill>
                <a:latin typeface="Arial"/>
              </a:rPr>
              <a:t>HR ops — ticket classification &amp; SLA</a:t>
            </a:r>
          </a:p>
          <a:p>
            <a:pPr algn="l">
              <a:spcBef>
                <a:spcPts val="1200"/>
              </a:spcBef>
            </a:pPr>
            <a:r>
              <a:rPr sz="1500" b="0">
                <a:solidFill>
                  <a:srgbClr val="1B1F17"/>
                </a:solidFill>
                <a:latin typeface="Arial"/>
              </a:rPr>
              <a:t>Hiring manager — request status needs</a:t>
            </a:r>
          </a:p>
          <a:p>
            <a:pPr algn="l">
              <a:spcBef>
                <a:spcPts val="1200"/>
              </a:spcBef>
            </a:pPr>
            <a:r>
              <a:rPr sz="1500" b="0">
                <a:solidFill>
                  <a:srgbClr val="1B1F17"/>
                </a:solidFill>
                <a:latin typeface="Arial"/>
              </a:rPr>
              <a:t>Controller / CFO — board report bar</a:t>
            </a:r>
          </a:p>
          <a:p>
            <a:pPr algn="l">
              <a:spcBef>
                <a:spcPts val="1200"/>
              </a:spcBef>
            </a:pPr>
            <a:r>
              <a:rPr sz="1500" b="0">
                <a:solidFill>
                  <a:srgbClr val="1B1F17"/>
                </a:solidFill>
                <a:latin typeface="Arial"/>
              </a:rPr>
              <a:t>Eng / ATS owner — source-of-truth constraints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8/13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PRODUCT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1F17"/>
                </a:solidFill>
                <a:latin typeface="Arial"/>
              </a:rPr>
              <a:t>AI accelerates. Cross-functional partners decide.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08760"/>
            <a:ext cx="1508760" cy="8229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B1F17"/>
                </a:solidFill>
                <a:latin typeface="Arial"/>
              </a:rPr>
              <a:t>Artifact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1508760"/>
            <a:ext cx="1508760" cy="8229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48840" y="169164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B1F17"/>
                </a:solidFill>
                <a:latin typeface="Arial"/>
              </a:rPr>
              <a:t>AI summarize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94760" y="1508760"/>
            <a:ext cx="1508760" cy="82296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94760" y="169164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Validate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1508760"/>
            <a:ext cx="1508760" cy="8229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169164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B1F17"/>
                </a:solidFill>
                <a:latin typeface="Arial"/>
              </a:rPr>
              <a:t>Hypothesize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86600" y="1508760"/>
            <a:ext cx="1508760" cy="82296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86600" y="169164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Prioritize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32520" y="1508760"/>
            <a:ext cx="1508760" cy="8229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32520" y="169164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B1F17"/>
                </a:solidFill>
                <a:latin typeface="Arial"/>
              </a:rPr>
              <a:t>Prototype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78440" y="1508760"/>
            <a:ext cx="1508760" cy="8229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78440" y="169164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B1F17"/>
                </a:solidFill>
                <a:latin typeface="Arial"/>
              </a:rPr>
              <a:t>Review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2743200"/>
            <a:ext cx="35204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1752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Product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47472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Frame, prioritize, decision log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2743200"/>
            <a:ext cx="35204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3440" y="301752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Finance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347472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Board, variance, close needs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79" y="2743200"/>
            <a:ext cx="35204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79" y="301752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HR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79" y="347472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Ticket semantics &amp; path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4343400"/>
            <a:ext cx="35204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61772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Design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7492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30-second comprehension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34840" y="4343400"/>
            <a:ext cx="35204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63440" y="461772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Engineering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507492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Source of truth &amp; audit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83879" y="4343400"/>
            <a:ext cx="35204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12479" y="461772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Analytics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79" y="507492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Time-to-answer &amp; SLAs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9/13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ITERATIONS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1F17"/>
                </a:solidFill>
                <a:latin typeface="Arial"/>
              </a:rPr>
              <a:t>Ship → show → simplify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Outlook  ·  Story + timeline + history ranges</a:t>
            </a:r>
          </a:p>
        </p:txBody>
      </p:sp>
      <p:pic>
        <p:nvPicPr>
          <p:cNvPr id="8" name="Picture 7" descr="01-home-outlook-t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783080"/>
            <a:ext cx="4535126" cy="187451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55079" y="137160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59" y="14173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Bridge  ·  Readable gap explanation</a:t>
            </a:r>
          </a:p>
        </p:txBody>
      </p:sp>
      <p:pic>
        <p:nvPicPr>
          <p:cNvPr id="11" name="Picture 10" descr="02-bridge-ti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799" y="1783080"/>
            <a:ext cx="4535126" cy="187451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48640" y="384048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886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Approvals  ·  Manager → HR → Finance</a:t>
            </a:r>
          </a:p>
        </p:txBody>
      </p:sp>
      <p:pic>
        <p:nvPicPr>
          <p:cNvPr id="14" name="Picture 13" descr="03-approvals-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4251960"/>
            <a:ext cx="4535126" cy="1874519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355079" y="384048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59" y="3886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Export  ·  Close-ready workbook preview</a:t>
            </a:r>
          </a:p>
        </p:txBody>
      </p:sp>
      <p:pic>
        <p:nvPicPr>
          <p:cNvPr id="17" name="Picture 16" descr="04-export-ti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799" y="4251960"/>
            <a:ext cx="4535126" cy="187451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10/13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SUCCESS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1F17"/>
                </a:solidFill>
                <a:latin typeface="Arial"/>
              </a:rPr>
              <a:t>Measure understanding — tie every metric to why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Time to understand HC @ 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&lt; 30 seconds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Comprehension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508760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34840" y="1508760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1828800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Month-end recon 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5146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Hours → minutes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971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Finance speed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508760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508760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9" y="1828800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Backfill decision SLA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79" y="25146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Median days 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9" y="2971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HR clarity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749039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3749039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069079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Spreadsheet steps removed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754879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Checklist shrinks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212079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Ops cost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34840" y="3749039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434840" y="3749039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63440" y="4069079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Variance follow-ups / close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4754879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Fewer threads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5212079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Trust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83879" y="3749039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83879" y="3749039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79" y="4069079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Weekly active Finance + HR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79" y="4754879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Adoption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79" y="5212079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Real use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11/13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ILLUSTRATIVE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1F17"/>
                </a:solidFill>
                <a:latin typeface="Arial"/>
              </a:rPr>
              <a:t>Modeled for a ~300 FTE company — labeled assumptions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A7264"/>
                </a:solidFill>
                <a:latin typeface="Arial"/>
              </a:rPr>
              <a:t>Not a customer ROI claim — a defendable planning model for interview discussion.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2971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F8F12"/>
                </a:solidFill>
                <a:latin typeface="Arial"/>
              </a:rPr>
              <a:t>8–12 hrs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200400"/>
            <a:ext cx="2971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FP&amp;A time / month on recon
before (assumption)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75488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264"/>
                </a:solidFill>
                <a:latin typeface="Arial"/>
              </a:rPr>
              <a:t>Based on multi-tab close ritual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92024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2286000"/>
            <a:ext cx="2971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F8F12"/>
                </a:solidFill>
                <a:latin typeface="Arial"/>
              </a:rPr>
              <a:t>&lt; 30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3200400"/>
            <a:ext cx="2971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Target time to trusted view
after Control Tower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475488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264"/>
                </a:solidFill>
                <a:latin typeface="Arial"/>
              </a:rPr>
              <a:t>North-star product goal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79" y="192024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199" y="2286000"/>
            <a:ext cx="2971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F8F12"/>
                </a:solidFill>
                <a:latin typeface="Arial"/>
              </a:rPr>
              <a:t>~90%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199" y="3200400"/>
            <a:ext cx="2971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Time saved on recon work
in the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199" y="475488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264"/>
                </a:solidFill>
                <a:latin typeface="Arial"/>
              </a:rPr>
              <a:t>Aligns with automation vendor claims; validate in 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12/13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2011680" cy="43173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1945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B1F17"/>
                </a:solidFill>
                <a:latin typeface="Arial"/>
              </a:rPr>
              <a:t>Make headcount reconciliation
understandable in 30 seconds.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B1F17"/>
                </a:solidFill>
                <a:latin typeface="Arial"/>
              </a:rPr>
              <a:t>Problem: comprehension. Why: finance trust + HR decisions + BambooHR GTM.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rgbClr val="1B1F17"/>
                </a:solidFill>
                <a:latin typeface="Arial"/>
              </a:rPr>
              <a:t>Evidence → hypotheses → cross-functional build → iterate → measure.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4F8F12"/>
                </a:solidFill>
                <a:latin typeface="Arial"/>
              </a:rPr>
              <a:t>AI accelerated discovery. Judgment drove the product calls.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Live prototype link in README  ·  Next: 5 interviews + one close pilot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