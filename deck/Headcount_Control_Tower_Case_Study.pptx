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464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bus-factor quote after the comprehension quote. Problem is not only time — institutional knowledge concentrated in one FP&amp;A owner. Product value = shared story so the company is not doomed if that person is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as a PM operating model: sit with Finance, co-design with HR, pair with Design on comprehension, negotiate with Eng on automation boundaries, and bring Implementation in before 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bus-factor quote. Takeaway: resilience and shared understanding, not only speed. Offer the live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22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dirty="0">
                <a:solidFill>
                  <a:srgbClr val="1B1F17"/>
                </a:solidFill>
                <a:latin typeface="Arial"/>
              </a:rPr>
              <a:t>Headcount </a:t>
            </a:r>
            <a:r>
              <a:rPr lang="en-US" sz="4200" b="1" dirty="0">
                <a:solidFill>
                  <a:srgbClr val="1B1F17"/>
                </a:solidFill>
                <a:latin typeface="Arial"/>
              </a:rPr>
              <a:t>Reconciliation</a:t>
            </a:r>
            <a:endParaRPr sz="4200" b="1" dirty="0">
              <a:solidFill>
                <a:srgbClr val="1B1F17"/>
              </a:solidFill>
              <a:latin typeface="Arial"/>
            </a:endParaRPr>
          </a:p>
          <a:p>
            <a:pPr algn="l">
              <a:spcBef>
                <a:spcPts val="1400"/>
              </a:spcBef>
            </a:pPr>
            <a:r>
              <a:rPr sz="2000" b="0" dirty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 dirty="0">
                <a:solidFill>
                  <a:srgbClr val="1B1F17"/>
                </a:solidFill>
                <a:latin typeface="Arial"/>
              </a:rPr>
              <a:t>The bet: make that story clear in 30 seconds</a:t>
            </a:r>
            <a:r>
              <a:rPr lang="en-US" sz="18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for Finance,</a:t>
            </a:r>
            <a:r>
              <a:rPr lang="en-US" dirty="0">
                <a:solidFill>
                  <a:srgbClr val="1B1F17"/>
                </a:solidFill>
                <a:latin typeface="Arial"/>
              </a:rPr>
              <a:t> and HR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4F8F12"/>
                </a:solidFill>
                <a:latin typeface="Arial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2600" b="1" dirty="0">
                <a:solidFill>
                  <a:srgbClr val="1B1F17"/>
                </a:solidFill>
                <a:latin typeface="Arial"/>
              </a:rPr>
              <a:t>What is Headcount Reconciliation?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0" dirty="0">
                <a:solidFill>
                  <a:srgbClr val="6A7264"/>
                </a:solidFill>
                <a:latin typeface="Arial"/>
              </a:rPr>
              <a:t>A 60-second primer before we get into the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0972800" cy="18288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32641"/>
            <a:ext cx="103327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000" b="0" dirty="0">
                <a:solidFill>
                  <a:srgbClr val="1B1F17"/>
                </a:solidFill>
                <a:latin typeface="Arial"/>
              </a:rPr>
              <a:t>Headcount reconciliation is comparing the hiring plan leadership approved to the people actually in roles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explaining any difference.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Approved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2971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 dirty="0">
                <a:solidFill>
                  <a:srgbClr val="6A7264"/>
                </a:solidFill>
                <a:latin typeface="Arial"/>
              </a:rPr>
              <a:t>How many people the company said it would hire or keep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usually locked with the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59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Filled (actual)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How many people are really in those roles as of a specific date (often month-end close).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297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 dirty="0">
                <a:solidFill>
                  <a:srgbClr val="1B1F17"/>
                </a:solidFill>
                <a:latin typeface="Arial"/>
              </a:rPr>
              <a:t>The recon</a:t>
            </a:r>
            <a:r>
              <a:rPr lang="en-US" sz="1800" b="1" dirty="0">
                <a:solidFill>
                  <a:srgbClr val="1B1F17"/>
                </a:solidFill>
                <a:latin typeface="Arial"/>
              </a:rPr>
              <a:t>ciliation</a:t>
            </a:r>
            <a:endParaRPr sz="18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58200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The work of matching those views, naming gaps, and agreeing on one number Finance and HR can trust.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807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Why it matters: people are usually the largest operating cost</a:t>
            </a:r>
            <a:r>
              <a:rPr lang="en-US" sz="14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1400" b="0" dirty="0">
                <a:solidFill>
                  <a:srgbClr val="1B1F17"/>
                </a:solidFill>
                <a:latin typeface="Arial"/>
              </a:rPr>
              <a:t> so this number drives hiring, budget, and board conversations.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THE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0"/>
            <a:ext cx="9555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Headcount r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econciliation is critical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but nobody can follow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Approved plan, working plan, and filled headcount live in different tabs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often only one Finance owner can rebuild the story.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HR and Finance often have different numbers.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Marketing can be −2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headcount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vs plan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ned headcount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with no named reason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(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not backfilling, role closed, or a pivot to another team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).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Is this as of today or as of month-end close? Without a trusted as-of, every recon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ciliation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W</a:t>
            </a:r>
            <a:r>
              <a:rPr lang="en-US" sz="1100" b="1" dirty="0">
                <a:solidFill>
                  <a:srgbClr val="4F8F12"/>
                </a:solidFill>
                <a:latin typeface="Arial"/>
              </a:rPr>
              <a:t>HO BENEFITS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When Finance and HR share one headcount story, the business moves faster.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6EAE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6EAE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6EAE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E6EAE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164591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>
                <a:solidFill>
                  <a:srgbClr val="4F8F12"/>
                </a:solidFill>
                <a:latin typeface="Arial"/>
              </a:rPr>
              <a:t>A headcount number they can trust at close — and that isn’t locked in one person’s head.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743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>
                <a:solidFill>
                  <a:srgbClr val="4F8F12"/>
                </a:solidFill>
                <a:latin typeface="Arial"/>
              </a:rPr>
              <a:t>Real alignment with Finance on every hire and departure — without spreadsheet ping-pong.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840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>
                <a:solidFill>
                  <a:srgbClr val="4F8F12"/>
                </a:solidFill>
                <a:latin typeface="Arial"/>
              </a:rPr>
              <a:t>Clear visibility into whether their hiring request is moving — without chasing people.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937759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>
                <a:solidFill>
                  <a:srgbClr val="4F8F12"/>
                </a:solidFill>
                <a:latin typeface="Arial"/>
              </a:rPr>
              <a:t>Confidence the people story holds up for the board — even if a key FP&amp;A owner is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BAMBOOHR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A product Finance will fight for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1F17"/>
                </a:solidFill>
                <a:latin typeface="Arial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dirty="0">
                <a:solidFill>
                  <a:srgbClr val="6A7264"/>
                </a:solidFill>
                <a:latin typeface="Arial"/>
              </a:rPr>
              <a:t>Companies like ADP who have large clients do not have this type of product even though it is a major time commitment for current finance leaders.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Spreadsheet that only the FP&amp;A leader can follow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866001"/>
            <a:ext cx="97269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Fictional Northline data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: This is a real spreadsheet from a Head of Finance but with numbers and roles changed to protect confidentiality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7763069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Interview with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Head of Finance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at 300 employee company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“Reconciliation is critical, but the presentation tools are 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complicated,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262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718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172968"/>
            <a:ext cx="1024128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doomed”</a:t>
            </a:r>
          </a:p>
          <a:p>
            <a:pPr>
              <a:spcBef>
                <a:spcPts val="1000"/>
              </a:spcBef>
            </a:pPr>
            <a:r>
              <a:rPr sz="1300" b="1" dirty="0">
                <a:solidFill>
                  <a:srgbClr val="4F8F12"/>
                </a:solidFill>
                <a:latin typeface="Arial"/>
              </a:rPr>
              <a:t>— Head of Finance  ·  Key-person / bus</a:t>
            </a:r>
            <a:r>
              <a:rPr lang="en-US" sz="1300" b="1" dirty="0">
                <a:solidFill>
                  <a:srgbClr val="4F8F12"/>
                </a:solidFill>
                <a:latin typeface="Arial"/>
              </a:rPr>
              <a:t>iness</a:t>
            </a:r>
            <a:r>
              <a:rPr sz="1300" b="1" dirty="0">
                <a:solidFill>
                  <a:srgbClr val="4F8F12"/>
                </a:solidFill>
                <a:latin typeface="Arial"/>
              </a:rPr>
              <a:t>-factor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Market 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Research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—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Without a connected system between HR and Finance </a:t>
            </a:r>
            <a:r>
              <a:rPr lang="en-US" sz="1500" dirty="0">
                <a:solidFill>
                  <a:srgbClr val="1B1F17"/>
                </a:solidFill>
                <a:latin typeface="Arial"/>
              </a:rPr>
              <a:t>headcount reconciliation takes 14 days. With a connected system it takes 8. This is without a product that actively monitors reconciliation </a:t>
            </a:r>
            <a:endParaRPr sz="1500" b="0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average discrepancy between HR and Finance headcount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Five initial hypotheses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named gap drivers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not backfilling / pivot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Shared disposition tags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Mid-cycle changes live only in spreadsheets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 an not accessible 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Manual update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s required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Today vs close date confused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Explicit 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as-of dates / real time data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B1F17"/>
                </a:solidFill>
                <a:latin typeface="Arial"/>
              </a:rPr>
              <a:t>Wrong default </a:t>
            </a:r>
            <a:r>
              <a:rPr sz="1600" b="1" dirty="0" err="1">
                <a:solidFill>
                  <a:srgbClr val="1B1F17"/>
                </a:solidFill>
                <a:latin typeface="Arial"/>
              </a:rPr>
              <a:t>viz</a:t>
            </a:r>
            <a:r>
              <a:rPr lang="en-US" sz="1600" b="1" dirty="0" err="1">
                <a:solidFill>
                  <a:srgbClr val="1B1F17"/>
                </a:solidFill>
                <a:latin typeface="Arial"/>
              </a:rPr>
              <a:t>ualization</a:t>
            </a:r>
            <a:endParaRPr sz="1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tells the story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Product Process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Cross-Functional Collaboration is a must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rgbClr val="6A7264"/>
                </a:solidFill>
                <a:latin typeface="Arial"/>
              </a:rPr>
              <a:t>Some of the teams I would collaborate with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own the problem statement and the cuts. I keep a visible decision log so Engineering and Design never guess what “done” means.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sit in their close ritual. I learn their words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approved plan, working plan, filled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and pressure-test every screen against a real recon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co-design dispositions inside HR’s flow, not as a Finance bolt-on. If they won’t tag a Tuesday attrition, the product failed.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pair early on the 30-second test: can a first-time user explain the gap? If not, we redesign before we add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negotiate automation vs manual update with them. We agree source of truth, audit, and what’s intentionally human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before we write tickets.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pull them in before GA. Spreadsheet migration, glossary, and pilot success criteria are product work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surprise for support.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What we have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 where I would continue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Head of Finance conversation (exact quotes)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algn="l"/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HR ops — disposition SLA &amp; ticket path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Hiring manager — request status need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Controller / CFO — board report b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ar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0" dirty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Build, Iterate, Launch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Measure understanding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. Did this work?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Speed +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Potential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6A7264"/>
                </a:solidFill>
                <a:latin typeface="Arial"/>
              </a:rPr>
              <a:t>Modeled for a ~ 300 Employee company</a:t>
            </a:r>
            <a:endParaRPr sz="1300" b="1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4F8F12"/>
                </a:solidFill>
                <a:latin typeface="Arial"/>
              </a:rPr>
              <a:t>Redundancy in place </a:t>
            </a:r>
            <a:endParaRPr sz="2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More than one person can explain the gap — so recon isn’t a single point of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Answers the “hit by a bus” risk from 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Target time to a trusted view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Recon-time reductions seen
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2011680" cy="4317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69735"/>
            <a:ext cx="10645140" cy="2734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4000" b="1" dirty="0">
                <a:solidFill>
                  <a:srgbClr val="4F8F12"/>
                </a:solidFill>
                <a:latin typeface="Arial"/>
              </a:rPr>
              <a:t>Key takeaway</a:t>
            </a:r>
          </a:p>
          <a:p>
            <a:pPr>
              <a:spcBef>
                <a:spcPts val="1400"/>
              </a:spcBef>
            </a:pPr>
            <a:r>
              <a:rPr sz="4000" b="1" dirty="0">
                <a:solidFill>
                  <a:srgbClr val="1B1F17"/>
                </a:solidFill>
                <a:latin typeface="Arial"/>
              </a:rPr>
              <a:t>Headcount recon shouldn’t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 be complicated,</a:t>
            </a:r>
            <a:r>
              <a:rPr sz="4000" b="1" dirty="0">
                <a:solidFill>
                  <a:srgbClr val="1B1F17"/>
                </a:solidFill>
                <a:latin typeface="Arial"/>
              </a:rPr>
              <a:t> live in one person’s head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4000" b="1" dirty="0">
                <a:solidFill>
                  <a:srgbClr val="1B1F17"/>
                </a:solidFill>
                <a:latin typeface="Arial"/>
              </a:rPr>
              <a:t> or one spreadsheet.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 We can solve this.</a:t>
            </a:r>
            <a:endParaRPr sz="40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A7264"/>
                </a:solidFill>
                <a:latin typeface="Arial"/>
              </a:rPr>
              <a:t>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1753</Words>
  <Application>Microsoft Macintosh PowerPoint</Application>
  <PresentationFormat>Widescreen</PresentationFormat>
  <Paragraphs>215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Aran Bailey</cp:lastModifiedBy>
  <cp:revision>8</cp:revision>
  <dcterms:created xsi:type="dcterms:W3CDTF">2013-01-27T09:14:16Z</dcterms:created>
  <dcterms:modified xsi:type="dcterms:W3CDTF">2026-08-03T19:39:42Z</dcterms:modified>
  <cp:category/>
</cp:coreProperties>
</file>