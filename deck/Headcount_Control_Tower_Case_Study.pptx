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464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on the problem. Prototype is the proof; this deck is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this out loud: we are solving “make headcount recon understandable,” not “collect more HR data.” Rooted in a real Utah Head of Finance workflow and follow-up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Client why = time, trust, shared language. Tie every prototype feature back to one of these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BambooHR why = GTM into Finance + stickiness of the close ritual. Quote is primary research — treat as directional, not a win-rate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Emphasize: proprietary contact data was scrubbed. Structure is the point — 4 tabs, dense role rows, monthly columns, formulas. This is why “presentation tools are complicated and nobody understands them.”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bus-factor quote after the comprehension quote. Problem is not only time — institutional knowledge concentrated in one FP&amp;A owner. Product value = shared story so the company is not doomed if that person is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Prefer cohesion + recon-time stats. Cite carefully: Gartner via Kinnect; IJIRMPS for 14→8 days and 45% recon-time cut; PwC 25% discrepancy. Also available: Workday customer claim 60% less manual recon / 50% faster close — use only if you want vendor-sourced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helped generate; human kept five and mapped each to a UI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 as a PM operating model: sit with Finance, co-design with HR, pair with Design on comprehension, negotiate with Eng on automation boundaries, and bring Implementation in before 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Honesty: one deep signal + artifact now; structured interviews before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Partner feedback drove cuts: contractors out; named Marketing −2; pivots; July close vs viewing date; manual update.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North star: time to understand headcount at a given close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Stay humble on ROI. Point back to market recon-time evidence + partner’s lived spreadsheet pain.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on the bus-factor quote. Takeaway: resilience and shared understanding, not only speed. Offer the live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2194560" cy="470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058400" cy="1225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dirty="0">
                <a:solidFill>
                  <a:srgbClr val="1B1F17"/>
                </a:solidFill>
                <a:latin typeface="Arial"/>
              </a:rPr>
              <a:t>Headcount </a:t>
            </a:r>
            <a:r>
              <a:rPr lang="en-US" sz="4200" b="1" dirty="0">
                <a:solidFill>
                  <a:srgbClr val="1B1F17"/>
                </a:solidFill>
                <a:latin typeface="Arial"/>
              </a:rPr>
              <a:t>Reconciliation</a:t>
            </a:r>
            <a:endParaRPr sz="4200" b="1" dirty="0">
              <a:solidFill>
                <a:srgbClr val="1B1F17"/>
              </a:solidFill>
              <a:latin typeface="Arial"/>
            </a:endParaRPr>
          </a:p>
          <a:p>
            <a:pPr algn="l">
              <a:spcBef>
                <a:spcPts val="1400"/>
              </a:spcBef>
            </a:pPr>
            <a:r>
              <a:rPr sz="2000" b="0" dirty="0">
                <a:solidFill>
                  <a:srgbClr val="6A7264"/>
                </a:solidFill>
                <a:latin typeface="Arial"/>
              </a:rPr>
              <a:t>Product discovery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0584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B1F17"/>
                </a:solidFill>
                <a:latin typeface="Arial"/>
              </a:rPr>
              <a:t>The problem: leaders can’t trust or explain planned vs filled headcount.</a:t>
            </a:r>
          </a:p>
          <a:p>
            <a:pPr algn="l">
              <a:spcBef>
                <a:spcPts val="1000"/>
              </a:spcBef>
            </a:pPr>
            <a:r>
              <a:rPr sz="1800" b="0" dirty="0">
                <a:solidFill>
                  <a:srgbClr val="1B1F17"/>
                </a:solidFill>
                <a:latin typeface="Arial"/>
              </a:rPr>
              <a:t>The bet: make that story clear in 30 seconds</a:t>
            </a:r>
            <a:r>
              <a:rPr lang="en-US" sz="1800" b="0" dirty="0">
                <a:solidFill>
                  <a:srgbClr val="1B1F17"/>
                </a:solidFill>
                <a:latin typeface="Arial"/>
              </a:rPr>
              <a:t>, </a:t>
            </a:r>
            <a:r>
              <a:rPr sz="1800" b="0" dirty="0">
                <a:solidFill>
                  <a:srgbClr val="1B1F17"/>
                </a:solidFill>
                <a:latin typeface="Arial"/>
              </a:rPr>
              <a:t>for Finance,</a:t>
            </a:r>
            <a:r>
              <a:rPr lang="en-US" dirty="0">
                <a:solidFill>
                  <a:srgbClr val="1B1F17"/>
                </a:solidFill>
                <a:latin typeface="Arial"/>
              </a:rPr>
              <a:t> and HR</a:t>
            </a:r>
            <a:r>
              <a:rPr sz="1800" b="0" dirty="0">
                <a:solidFill>
                  <a:srgbClr val="1B1F17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4F8F12"/>
                </a:solidFill>
                <a:latin typeface="Arial"/>
              </a:rPr>
              <a:t>THE PROBLEM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57200"/>
            <a:ext cx="95554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Headcount r</a:t>
            </a:r>
            <a:r>
              <a:rPr sz="2600" b="1" dirty="0">
                <a:solidFill>
                  <a:srgbClr val="1B1F17"/>
                </a:solidFill>
                <a:latin typeface="Arial"/>
              </a:rPr>
              <a:t>econciliation is critical</a:t>
            </a:r>
            <a:r>
              <a:rPr lang="en-US" sz="2600" b="1" dirty="0">
                <a:solidFill>
                  <a:srgbClr val="1B1F17"/>
                </a:solidFill>
                <a:latin typeface="Arial"/>
              </a:rPr>
              <a:t>,</a:t>
            </a:r>
            <a:r>
              <a:rPr sz="2600" b="1" dirty="0">
                <a:solidFill>
                  <a:srgbClr val="1B1F17"/>
                </a:solidFill>
                <a:latin typeface="Arial"/>
              </a:rPr>
              <a:t> but nobody can follow the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F17"/>
                </a:solidFill>
                <a:latin typeface="Arial"/>
              </a:rPr>
              <a:t>The number isn’t trusted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29260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6A7264"/>
                </a:solidFill>
                <a:latin typeface="Arial"/>
              </a:rPr>
              <a:t>Approved plan, working plan, and filled headcount live in different tabs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, </a:t>
            </a:r>
            <a:r>
              <a:rPr sz="1500" b="0" dirty="0">
                <a:solidFill>
                  <a:srgbClr val="6A7264"/>
                </a:solidFill>
                <a:latin typeface="Arial"/>
              </a:rPr>
              <a:t> often only one Finance owner can rebuild the 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F17"/>
                </a:solidFill>
                <a:latin typeface="Arial"/>
              </a:rPr>
              <a:t>The gap isn’t explained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08960"/>
            <a:ext cx="29260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6A7264"/>
                </a:solidFill>
                <a:latin typeface="Arial"/>
              </a:rPr>
              <a:t>Marketing can be −2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 headcount </a:t>
            </a:r>
            <a:r>
              <a:rPr sz="1500" b="0" dirty="0">
                <a:solidFill>
                  <a:srgbClr val="6A7264"/>
                </a:solidFill>
                <a:latin typeface="Arial"/>
              </a:rPr>
              <a:t> vs plan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ned headcount</a:t>
            </a:r>
            <a:r>
              <a:rPr sz="1500" b="0" dirty="0">
                <a:solidFill>
                  <a:srgbClr val="6A7264"/>
                </a:solidFill>
                <a:latin typeface="Arial"/>
              </a:rPr>
              <a:t> with no named reason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 (</a:t>
            </a:r>
            <a:r>
              <a:rPr sz="1500" b="0" dirty="0">
                <a:solidFill>
                  <a:srgbClr val="6A7264"/>
                </a:solidFill>
                <a:latin typeface="Arial"/>
              </a:rPr>
              <a:t>not backfilling, role closed, or a pivot to another team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). </a:t>
            </a:r>
            <a:endParaRPr sz="1500" b="0" dirty="0">
              <a:solidFill>
                <a:srgbClr val="6A7264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83879" y="155448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199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23317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F17"/>
                </a:solidFill>
                <a:latin typeface="Arial"/>
              </a:rPr>
              <a:t>The date isn’t 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3108960"/>
            <a:ext cx="29260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6A7264"/>
                </a:solidFill>
                <a:latin typeface="Arial"/>
              </a:rPr>
              <a:t>Is this as of today or as of month-end close? Without a trusted as-of, every recon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ciliation</a:t>
            </a:r>
            <a:r>
              <a:rPr sz="1500" b="0" dirty="0">
                <a:solidFill>
                  <a:srgbClr val="6A7264"/>
                </a:solidFill>
                <a:latin typeface="Arial"/>
              </a:rPr>
              <a:t> rebuilds trust from scratch.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WHY THIS HELPS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F17"/>
                </a:solidFill>
                <a:latin typeface="Arial"/>
              </a:rPr>
              <a:t>When Finance and HR share one headcount story, the business moves faster.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1F17"/>
                </a:solidFill>
                <a:latin typeface="Arial"/>
              </a:rPr>
              <a:t>Answer “where are we vs the approved hiring plan?” in one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Fewer recon threads · board-ready variance · knowledge not trapped in one person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4846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B1F17"/>
                </a:solidFill>
                <a:latin typeface="Arial"/>
              </a:rPr>
              <a:t>Log backfill / not backfilling / pivot once</a:t>
            </a:r>
            <a:r>
              <a:rPr lang="en-US" sz="1500" b="0" dirty="0">
                <a:solidFill>
                  <a:srgbClr val="1B1F17"/>
                </a:solidFill>
                <a:latin typeface="Arial"/>
              </a:rPr>
              <a:t>,</a:t>
            </a:r>
            <a:r>
              <a:rPr sz="1500" b="0" dirty="0">
                <a:solidFill>
                  <a:srgbClr val="1B1F17"/>
                </a:solidFill>
                <a:latin typeface="Arial"/>
              </a:rPr>
              <a:t> Finance sees it instantly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7432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Less spreadsheet ping-pong · clearer hiring priorities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Managers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404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1F17"/>
                </a:solidFill>
                <a:latin typeface="Arial"/>
              </a:rPr>
              <a:t>See request status without chasing HR or FP&amp;A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40480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F8F12"/>
                </a:solidFill>
                <a:latin typeface="Arial"/>
              </a:rPr>
              <a:t>Less tribal knowledge · fewer stalled req</a:t>
            </a:r>
            <a:r>
              <a:rPr lang="en-US" sz="1400" b="1" dirty="0">
                <a:solidFill>
                  <a:srgbClr val="4F8F12"/>
                </a:solidFill>
                <a:latin typeface="Arial"/>
              </a:rPr>
              <a:t>uirement</a:t>
            </a:r>
            <a:r>
              <a:rPr sz="1400" b="1" dirty="0">
                <a:solidFill>
                  <a:srgbClr val="4F8F12"/>
                </a:solidFill>
                <a:latin typeface="Arial"/>
              </a:rPr>
              <a:t>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54879"/>
            <a:ext cx="22860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029199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Leadership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937759"/>
            <a:ext cx="48463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B1F17"/>
                </a:solidFill>
                <a:latin typeface="Arial"/>
              </a:rPr>
              <a:t>Trust the as-of date and named drivers</a:t>
            </a:r>
            <a:r>
              <a:rPr lang="en-US" sz="1500" b="0" dirty="0">
                <a:solidFill>
                  <a:srgbClr val="1B1F17"/>
                </a:solidFill>
                <a:latin typeface="Arial"/>
              </a:rPr>
              <a:t>, </a:t>
            </a:r>
            <a:r>
              <a:rPr sz="1500" b="0" dirty="0">
                <a:solidFill>
                  <a:srgbClr val="1B1F17"/>
                </a:solidFill>
                <a:latin typeface="Arial"/>
              </a:rPr>
              <a:t> even if the FP&amp;A owner is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937759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F8F12"/>
                </a:solidFill>
                <a:latin typeface="Arial"/>
              </a:rPr>
              <a:t>Business continuity · decisions on people cost, not one person’s spreadsheet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WHY THIS HELPS BAMBOOHR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B1F17"/>
                </a:solidFill>
                <a:latin typeface="Arial"/>
              </a:rPr>
              <a:t>A product Finance will fight for</a:t>
            </a:r>
            <a:r>
              <a:rPr lang="en-US" sz="2600" b="1" dirty="0">
                <a:solidFill>
                  <a:srgbClr val="1B1F17"/>
                </a:solidFill>
                <a:latin typeface="Arial"/>
              </a:rPr>
              <a:t>,</a:t>
            </a:r>
            <a:r>
              <a:rPr sz="2600" b="1" dirty="0">
                <a:solidFill>
                  <a:srgbClr val="1B1F17"/>
                </a:solidFill>
                <a:latin typeface="Arial"/>
              </a:rPr>
              <a:t> not only HR.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1F17"/>
                </a:solidFill>
                <a:latin typeface="Arial"/>
              </a:rPr>
              <a:t>Sell Finance easier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Head of Finance: “If this product existed, you would sell the finance department much easier.” Direct GTM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087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1F17"/>
                </a:solidFill>
                <a:latin typeface="Arial"/>
              </a:rPr>
              <a:t>Expand beyond HRIS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800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A7264"/>
                </a:solidFill>
                <a:latin typeface="Arial"/>
              </a:rPr>
              <a:t>Headcount recon sits on BambooHR’s source-of-truth. Makes the HRIS the system Finance opens at close</a:t>
            </a:r>
            <a:r>
              <a:rPr lang="en-US" sz="1400" b="0" dirty="0">
                <a:solidFill>
                  <a:srgbClr val="6A7264"/>
                </a:solidFill>
                <a:latin typeface="Arial"/>
              </a:rPr>
              <a:t>,</a:t>
            </a:r>
            <a:r>
              <a:rPr sz="1400" b="0" dirty="0">
                <a:solidFill>
                  <a:srgbClr val="6A7264"/>
                </a:solidFill>
                <a:latin typeface="Arial"/>
              </a:rPr>
              <a:t> not a spreadsheet export.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947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14800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B1F17"/>
                </a:solidFill>
                <a:latin typeface="Arial"/>
              </a:rPr>
              <a:t>Differentiate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4800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6A7264"/>
                </a:solidFill>
                <a:latin typeface="Arial"/>
              </a:rPr>
              <a:t>Companies like ADP who have large clients do not have this type of product even though it is a major time commitment for current finance leaders.</a:t>
            </a:r>
            <a:endParaRPr sz="1400" b="0" dirty="0">
              <a:solidFill>
                <a:srgbClr val="6A7264"/>
              </a:solidFill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44068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1F17"/>
                </a:solidFill>
                <a:latin typeface="Arial"/>
              </a:rPr>
              <a:t>Retention &amp;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6344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Once FP&amp;A depends on BambooHR for the monthly story, switching costs rise and seats expand into finance buyers.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WHAT IT LOOKS LIKE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Spreadsheet that only the FP&amp;A leader can follow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1720" y="866001"/>
            <a:ext cx="972693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6A7264"/>
                </a:solidFill>
                <a:latin typeface="Arial"/>
              </a:rPr>
              <a:t>Fictional Northline data</a:t>
            </a:r>
            <a:r>
              <a:rPr lang="en-US" sz="1500" b="0" dirty="0">
                <a:solidFill>
                  <a:srgbClr val="6A7264"/>
                </a:solidFill>
                <a:latin typeface="Arial"/>
              </a:rPr>
              <a:t>: This is a real spreadsheet from a Head of Finance but with numbers and roles changed to protect confidentiality </a:t>
            </a:r>
            <a:endParaRPr sz="1500" b="0" dirty="0">
              <a:solidFill>
                <a:srgbClr val="6A7264"/>
              </a:solidFill>
              <a:latin typeface="Arial"/>
            </a:endParaRPr>
          </a:p>
        </p:txBody>
      </p:sp>
      <p:pic>
        <p:nvPicPr>
          <p:cNvPr id="7" name="Picture 6" descr="00-current-spread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17320"/>
            <a:ext cx="7763069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Interview with</a:t>
            </a:r>
            <a:r>
              <a:rPr sz="2600" b="1" dirty="0">
                <a:solidFill>
                  <a:srgbClr val="1B1F17"/>
                </a:solidFill>
                <a:latin typeface="Arial"/>
              </a:rPr>
              <a:t> Head of Finance</a:t>
            </a:r>
            <a:r>
              <a:rPr lang="en-US" sz="2600" b="1" dirty="0">
                <a:solidFill>
                  <a:srgbClr val="1B1F17"/>
                </a:solidFill>
                <a:latin typeface="Arial"/>
              </a:rPr>
              <a:t> at 300 employee company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B1F17"/>
                </a:solidFill>
                <a:latin typeface="Arial"/>
              </a:rPr>
              <a:t>“Reconciliation is critical, but the presentation tools are </a:t>
            </a:r>
            <a:r>
              <a:rPr lang="en-US" sz="2000" b="0" dirty="0">
                <a:solidFill>
                  <a:srgbClr val="1B1F17"/>
                </a:solidFill>
                <a:latin typeface="Arial"/>
              </a:rPr>
              <a:t>complicated,</a:t>
            </a:r>
            <a:r>
              <a:rPr sz="2000" b="0" dirty="0">
                <a:solidFill>
                  <a:srgbClr val="1B1F17"/>
                </a:solidFill>
                <a:latin typeface="Arial"/>
              </a:rPr>
              <a:t> and nobody understands them”</a:t>
            </a:r>
          </a:p>
          <a:p>
            <a:pPr algn="l">
              <a:spcBef>
                <a:spcPts val="1400"/>
              </a:spcBef>
            </a:pPr>
            <a:r>
              <a:rPr sz="1400" b="1" dirty="0">
                <a:solidFill>
                  <a:srgbClr val="4F8F12"/>
                </a:solidFill>
                <a:latin typeface="Arial"/>
              </a:rPr>
              <a:t>— Head of Finance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2628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709160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1B1F17"/>
                </a:solidFill>
                <a:latin typeface="Arial"/>
              </a:rPr>
              <a:t>“If this product existed, you would sell the finance department much easier”</a:t>
            </a:r>
          </a:p>
          <a:p>
            <a:pPr algn="l">
              <a:spcBef>
                <a:spcPts val="1400"/>
              </a:spcBef>
            </a:pPr>
            <a:r>
              <a:rPr sz="1400" b="1" dirty="0">
                <a:solidFill>
                  <a:srgbClr val="4F8F12"/>
                </a:solidFill>
                <a:latin typeface="Arial"/>
              </a:rPr>
              <a:t>— Head of Finance  ·  Direct GTM signal for BambooHR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6/14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71800"/>
            <a:ext cx="10972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172968"/>
            <a:ext cx="10241280" cy="1036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dirty="0">
                <a:solidFill>
                  <a:srgbClr val="1B1F17"/>
                </a:solidFill>
                <a:latin typeface="Arial"/>
              </a:rPr>
              <a:t>“The problem is I’m the only one that reconciliation relies on. If I got hit by a bus, we’d be doomed”</a:t>
            </a:r>
          </a:p>
          <a:p>
            <a:pPr>
              <a:spcBef>
                <a:spcPts val="1000"/>
              </a:spcBef>
            </a:pPr>
            <a:r>
              <a:rPr sz="1300" b="1" dirty="0">
                <a:solidFill>
                  <a:srgbClr val="4F8F12"/>
                </a:solidFill>
                <a:latin typeface="Arial"/>
              </a:rPr>
              <a:t>— Head of Finance  ·  Key-person / bus</a:t>
            </a:r>
            <a:r>
              <a:rPr lang="en-US" sz="1300" b="1" dirty="0">
                <a:solidFill>
                  <a:srgbClr val="4F8F12"/>
                </a:solidFill>
                <a:latin typeface="Arial"/>
              </a:rPr>
              <a:t>iness</a:t>
            </a:r>
            <a:r>
              <a:rPr sz="1300" b="1" dirty="0">
                <a:solidFill>
                  <a:srgbClr val="4F8F12"/>
                </a:solidFill>
                <a:latin typeface="Arial"/>
              </a:rPr>
              <a:t>-factor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B1F17"/>
                </a:solidFill>
                <a:latin typeface="Arial"/>
              </a:rPr>
              <a:t>Market </a:t>
            </a:r>
            <a:r>
              <a:rPr lang="en-US" sz="2600" b="1" dirty="0">
                <a:solidFill>
                  <a:srgbClr val="1B1F17"/>
                </a:solidFill>
                <a:latin typeface="Arial"/>
              </a:rPr>
              <a:t>Research</a:t>
            </a:r>
            <a:r>
              <a:rPr sz="2600" b="1" dirty="0">
                <a:solidFill>
                  <a:srgbClr val="1B1F17"/>
                </a:solidFill>
                <a:latin typeface="Arial"/>
              </a:rPr>
              <a:t> — HR and Finance still don’t share one headcount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F8F12"/>
                </a:solidFill>
                <a:latin typeface="Arial"/>
              </a:rP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1F17"/>
                </a:solidFill>
                <a:latin typeface="Arial"/>
              </a:rPr>
              <a:t>of HR &amp; Finance teams lack shared systems for workforce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Gartner, cited via Kinnect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F8F12"/>
                </a:solidFill>
                <a:latin typeface="Arial"/>
              </a:rPr>
              <a:t>14 → 8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30632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dirty="0">
                <a:solidFill>
                  <a:srgbClr val="1B1F17"/>
                </a:solidFill>
                <a:latin typeface="Arial"/>
              </a:rPr>
              <a:t>Without a connected system between HR and Finance </a:t>
            </a:r>
            <a:r>
              <a:rPr lang="en-US" sz="1500" dirty="0">
                <a:solidFill>
                  <a:srgbClr val="1B1F17"/>
                </a:solidFill>
                <a:latin typeface="Arial"/>
              </a:rPr>
              <a:t>headcount reconciliation takes 14 days. With a connected system it takes 8. This is without a product that actively monitors reconciliation </a:t>
            </a:r>
            <a:endParaRPr sz="1500" b="0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48463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IJIRMPS healthcare case study, 2025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554480"/>
            <a:ext cx="35204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9" y="19202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F8F12"/>
                </a:solidFill>
                <a:latin typeface="Arial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926080"/>
            <a:ext cx="3063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B1F17"/>
                </a:solidFill>
                <a:latin typeface="Arial"/>
              </a:rPr>
              <a:t>average discrepancy between HR and Finance headcount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48463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PwC (2022), cited in IJIRMPS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Five initial hypotheses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914400" cy="685800"/>
          </a:xfrm>
          <a:prstGeom prst="roundRect">
            <a:avLst>
              <a:gd name="adj" fmla="val 6000"/>
            </a:avLst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Cognitive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Multi-tab recon exceeds working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508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Story + named gap drivers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914400" cy="685800"/>
          </a:xfrm>
          <a:prstGeom prst="roundRect">
            <a:avLst>
              <a:gd name="adj" fmla="val 6000"/>
            </a:avLst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77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Definition debt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774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Backfill / not backfilling / pivot undefined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Shared disposition tags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54680"/>
            <a:ext cx="914400" cy="685800"/>
          </a:xfrm>
          <a:prstGeom prst="roundRect">
            <a:avLst>
              <a:gd name="adj" fmla="val 6000"/>
            </a:avLst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46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No decision object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46120"/>
            <a:ext cx="3474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6A7264"/>
                </a:solidFill>
                <a:latin typeface="Arial"/>
              </a:rPr>
              <a:t>Mid-cycle changes live only in spreadsheets</a:t>
            </a:r>
            <a:r>
              <a:rPr lang="en-US" sz="1400" b="0" dirty="0">
                <a:solidFill>
                  <a:srgbClr val="6A7264"/>
                </a:solidFill>
                <a:latin typeface="Arial"/>
              </a:rPr>
              <a:t> an not accessible </a:t>
            </a:r>
            <a:endParaRPr sz="1400" b="0" dirty="0">
              <a:solidFill>
                <a:srgbClr val="6A7264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0" y="3246120"/>
            <a:ext cx="2926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F8F12"/>
                </a:solidFill>
                <a:latin typeface="Arial"/>
              </a:rPr>
              <a:t>Manual update</a:t>
            </a:r>
            <a:r>
              <a:rPr lang="en-US" sz="1400" b="1" dirty="0">
                <a:solidFill>
                  <a:srgbClr val="4F8F12"/>
                </a:solidFill>
                <a:latin typeface="Arial"/>
              </a:rPr>
              <a:t>s required</a:t>
            </a:r>
            <a:endParaRPr sz="1400" b="1" dirty="0">
              <a:solidFill>
                <a:srgbClr val="4F8F12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" y="4023359"/>
            <a:ext cx="914400" cy="685800"/>
          </a:xfrm>
          <a:prstGeom prst="roundRect">
            <a:avLst>
              <a:gd name="adj" fmla="val 6000"/>
            </a:avLst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2062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11479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Time blindness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1479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Today vs close date confused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14799"/>
            <a:ext cx="2926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F8F12"/>
                </a:solidFill>
                <a:latin typeface="Arial"/>
              </a:rPr>
              <a:t>Explicit </a:t>
            </a:r>
            <a:r>
              <a:rPr lang="en-US" sz="1400" b="1" dirty="0">
                <a:solidFill>
                  <a:srgbClr val="4F8F12"/>
                </a:solidFill>
                <a:latin typeface="Arial"/>
              </a:rPr>
              <a:t>as-of dates / real time data</a:t>
            </a:r>
            <a:endParaRPr sz="1400" b="1" dirty="0">
              <a:solidFill>
                <a:srgbClr val="4F8F12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914400" cy="685800"/>
          </a:xfrm>
          <a:prstGeom prst="roundRect">
            <a:avLst>
              <a:gd name="adj" fmla="val 6000"/>
            </a:avLst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H5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983480"/>
            <a:ext cx="3200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B1F17"/>
                </a:solidFill>
                <a:latin typeface="Arial"/>
              </a:rPr>
              <a:t>Wrong default </a:t>
            </a:r>
            <a:r>
              <a:rPr sz="1600" b="1" dirty="0" err="1">
                <a:solidFill>
                  <a:srgbClr val="1B1F17"/>
                </a:solidFill>
                <a:latin typeface="Arial"/>
              </a:rPr>
              <a:t>viz</a:t>
            </a:r>
            <a:r>
              <a:rPr lang="en-US" sz="1600" b="1" dirty="0" err="1">
                <a:solidFill>
                  <a:srgbClr val="1B1F17"/>
                </a:solidFill>
                <a:latin typeface="Arial"/>
              </a:rPr>
              <a:t>ualization</a:t>
            </a:r>
            <a:endParaRPr sz="1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2064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Grids serve authors, not leaders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983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Bridge tells the story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dirty="0">
                <a:solidFill>
                  <a:srgbClr val="4F8F12"/>
                </a:solidFill>
                <a:latin typeface="Arial"/>
              </a:rPr>
              <a:t>Product Process</a:t>
            </a:r>
            <a:endParaRPr sz="1100" b="1" dirty="0">
              <a:solidFill>
                <a:srgbClr val="4F8F12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Cross-Functional Collaboration is a must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1720" y="960120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dirty="0">
                <a:solidFill>
                  <a:srgbClr val="6A7264"/>
                </a:solidFill>
                <a:latin typeface="Arial"/>
              </a:rPr>
              <a:t>How a strong PM partners with each team — not a RACI of their jobs</a:t>
            </a:r>
            <a:endParaRPr sz="1500" b="0" dirty="0">
              <a:solidFill>
                <a:srgbClr val="6A7264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I own the problem statement and the cuts. I keep a visible decision log so Engineering and Design never guess what “done” means.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783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Finance (customer + internal FP&amp;A)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I sit in their close ritual. I learn their words — approved plan, working plan, filled — and pressure-test every screen against a real recon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08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9" y="1783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HR / People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9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I co-design dispositions inside HR’s flow, not as a Finance bolt-on. If they won’t tag a Tuesday attrition, the product failed.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I pair early on the 30-second test: can a first-time user explain the gap? If not, we redesign before we add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794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4069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617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I negotiate automation vs manual update with them. We agree source of truth, audit, and what’s intentionally human — before we write tickets.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79476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9" y="4069080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F17"/>
                </a:solidFill>
                <a:latin typeface="Arial"/>
              </a:rPr>
              <a:t>Implementation / 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4617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I pull them in before GA. Spreadsheet migration, glossary, and pilot success criteria are product work — not a surprise for support.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INTERVIEWS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B1F17"/>
                </a:solidFill>
                <a:latin typeface="Arial"/>
              </a:rPr>
              <a:t>What we have</a:t>
            </a:r>
            <a:r>
              <a:rPr lang="en-US" sz="2600" b="1" dirty="0">
                <a:solidFill>
                  <a:srgbClr val="1B1F17"/>
                </a:solidFill>
                <a:latin typeface="Arial"/>
              </a:rPr>
              <a:t>, where I would continue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In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B1F17"/>
                </a:solidFill>
                <a:latin typeface="Arial"/>
              </a:rPr>
              <a:t>Head of Finance conversation (exact quotes)</a:t>
            </a: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algn="l"/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B1F17"/>
                </a:solidFill>
                <a:latin typeface="Arial"/>
              </a:rPr>
              <a:t>Live multi-tab workbook: approved plan / roll-forward / HC recon / net-new</a:t>
            </a: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1B1F17"/>
                </a:solidFill>
                <a:latin typeface="Arial"/>
              </a:rPr>
              <a:t>Follow-up: name what’s behind the gap, clear as-of, not backfilling + pivots, drop contractors, tell the story, manual mid-cycle edits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8F12"/>
                </a:solidFill>
                <a:latin typeface="Arial"/>
              </a:rPr>
              <a:t>Next five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286000"/>
            <a:ext cx="46634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B1F17"/>
                </a:solidFill>
                <a:latin typeface="Arial"/>
              </a:rPr>
              <a:t>FP&amp;A lead — close ritual &amp; recon hours</a:t>
            </a: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B1F17"/>
                </a:solidFill>
                <a:latin typeface="Arial"/>
              </a:rPr>
              <a:t>HR ops — disposition SLA &amp; ticket path</a:t>
            </a: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B1F17"/>
                </a:solidFill>
                <a:latin typeface="Arial"/>
              </a:rPr>
              <a:t>Hiring manager — request status need</a:t>
            </a: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B1F17"/>
                </a:solidFill>
                <a:latin typeface="Arial"/>
              </a:rPr>
              <a:t>Controller / CFO — board report b</a:t>
            </a:r>
            <a:r>
              <a:rPr lang="en-US" sz="1500" b="0" dirty="0">
                <a:solidFill>
                  <a:srgbClr val="1B1F17"/>
                </a:solidFill>
                <a:latin typeface="Arial"/>
              </a:rPr>
              <a:t>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500" b="0" dirty="0">
              <a:solidFill>
                <a:srgbClr val="1B1F17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1B1F17"/>
                </a:solidFill>
                <a:latin typeface="Arial"/>
              </a:rPr>
              <a:t>Implementation lead — spreadsheet migration pain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ITERATIONS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Build, Iterate, Launch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577840" cy="36576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F17"/>
                </a:solidFill>
                <a:latin typeface="Arial"/>
              </a:rPr>
              <a:t>Story first  ·  Approved plan · filled · named gap</a:t>
            </a:r>
          </a:p>
        </p:txBody>
      </p:sp>
      <p:pic>
        <p:nvPicPr>
          <p:cNvPr id="8" name="Picture 7" descr="01-home-outlook-t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783080"/>
            <a:ext cx="4535126" cy="18745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79" y="1371600"/>
            <a:ext cx="5577840" cy="36576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417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F17"/>
                </a:solidFill>
                <a:latin typeface="Arial"/>
              </a:rPr>
              <a:t>Bridge  ·  Backfill · not backfilling · pivot</a:t>
            </a:r>
          </a:p>
        </p:txBody>
      </p:sp>
      <p:pic>
        <p:nvPicPr>
          <p:cNvPr id="11" name="Picture 10" descr="02-bridge-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99" y="1783080"/>
            <a:ext cx="4535126" cy="187451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" y="3840480"/>
            <a:ext cx="5577840" cy="36576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F17"/>
                </a:solidFill>
                <a:latin typeface="Arial"/>
              </a:rPr>
              <a:t>Manual update  ·  Mid-cycle edits systems miss</a:t>
            </a:r>
          </a:p>
        </p:txBody>
      </p:sp>
      <p:pic>
        <p:nvPicPr>
          <p:cNvPr id="14" name="Picture 13" descr="03-approvals-t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51960"/>
            <a:ext cx="4535126" cy="18745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355079" y="3840480"/>
            <a:ext cx="5577840" cy="365760"/>
          </a:xfrm>
          <a:prstGeom prst="roundRect">
            <a:avLst>
              <a:gd name="adj" fmla="val 6000"/>
            </a:avLst>
          </a:prstGeom>
          <a:solidFill>
            <a:srgbClr val="F3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38862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F17"/>
                </a:solidFill>
                <a:latin typeface="Arial"/>
              </a:rPr>
              <a:t>Export  ·  Close-ready share-out</a:t>
            </a:r>
          </a:p>
        </p:txBody>
      </p:sp>
      <p:pic>
        <p:nvPicPr>
          <p:cNvPr id="17" name="Picture 16" descr="04-export-t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799" y="4251960"/>
            <a:ext cx="4535126" cy="18745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B1F17"/>
                </a:solidFill>
                <a:latin typeface="Arial"/>
              </a:rPr>
              <a:t>Measure understanding</a:t>
            </a:r>
            <a:r>
              <a:rPr lang="en-US" sz="2600" b="1" dirty="0">
                <a:solidFill>
                  <a:srgbClr val="1B1F17"/>
                </a:solidFill>
                <a:latin typeface="Arial"/>
              </a:rPr>
              <a:t>. Did this work? </a:t>
            </a:r>
            <a:endParaRPr sz="2600" b="1" dirty="0">
              <a:solidFill>
                <a:srgbClr val="1B1F17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3520440" cy="73152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F17"/>
                </a:solidFill>
                <a:latin typeface="Arial"/>
              </a:rPr>
              <a:t>Time to understand HC @ close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8F12"/>
                </a:solidFill>
                <a:latin typeface="Arial"/>
              </a:rPr>
              <a:t>&lt; 30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264"/>
                </a:solidFill>
                <a:latin typeface="Arial"/>
              </a:rPr>
              <a:t>Comprehension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0876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3520440" cy="73152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F17"/>
                </a:solidFill>
                <a:latin typeface="Arial"/>
              </a:rPr>
              <a:t>Month-end recon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8F12"/>
                </a:solidFill>
                <a:latin typeface="Arial"/>
              </a:rPr>
              <a:t>Hours →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264"/>
                </a:solidFill>
                <a:latin typeface="Arial"/>
              </a:rPr>
              <a:t>Speed + resilience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08760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508760"/>
            <a:ext cx="3520440" cy="73152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9" y="1828800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F17"/>
                </a:solidFill>
                <a:latin typeface="Arial"/>
              </a:rPr>
              <a:t>Disposition logged on attrition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51460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8F12"/>
                </a:solidFill>
                <a:latin typeface="Arial"/>
              </a:rPr>
              <a:t>% of exits tagged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29718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264"/>
                </a:solidFill>
                <a:latin typeface="Arial"/>
              </a:rPr>
              <a:t>HR–Finance cohesion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749039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749039"/>
            <a:ext cx="3520440" cy="73152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7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F17"/>
                </a:solidFill>
                <a:latin typeface="Arial"/>
              </a:rPr>
              <a:t>Unexplained dept gaps at 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8F12"/>
                </a:solidFill>
                <a:latin typeface="Arial"/>
              </a:rPr>
              <a:t>→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7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264"/>
                </a:solidFill>
                <a:latin typeface="Arial"/>
              </a:rPr>
              <a:t>Named drivers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749039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749039"/>
            <a:ext cx="3520440" cy="73152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406907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F17"/>
                </a:solidFill>
                <a:latin typeface="Arial"/>
              </a:rPr>
              <a:t>Variance follow-ups /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7548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8F12"/>
                </a:solidFill>
                <a:latin typeface="Arial"/>
              </a:rPr>
              <a:t>Fewer threads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21207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264"/>
                </a:solidFill>
                <a:latin typeface="Arial"/>
              </a:rPr>
              <a:t>Trust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3749039"/>
            <a:ext cx="35204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83879" y="3749039"/>
            <a:ext cx="3520440" cy="73152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79" y="4069079"/>
            <a:ext cx="3063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1F17"/>
                </a:solidFill>
                <a:latin typeface="Arial"/>
              </a:rPr>
              <a:t>Weekly active Finance + 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47548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F8F12"/>
                </a:solidFill>
                <a:latin typeface="Arial"/>
              </a:rPr>
              <a:t>Both personas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521207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7264"/>
                </a:solidFill>
                <a:latin typeface="Arial"/>
              </a:rPr>
              <a:t>Real 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6032"/>
            <a:ext cx="1417320" cy="3041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31720" y="228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F8F12"/>
                </a:solidFill>
                <a:latin typeface="Arial"/>
              </a:rPr>
              <a:t>ILLUSTRATIVE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457200"/>
            <a:ext cx="9326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B1F17"/>
                </a:solidFill>
                <a:latin typeface="Arial"/>
              </a:rPr>
              <a:t>Potential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6A7264"/>
                </a:solidFill>
                <a:latin typeface="Arial"/>
              </a:rPr>
              <a:t>Modeled for a ~ 300 Employee company</a:t>
            </a:r>
            <a:endParaRPr sz="1300" b="1" dirty="0">
              <a:solidFill>
                <a:srgbClr val="6A7264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2971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4F8F12"/>
                </a:solidFill>
                <a:latin typeface="Arial"/>
              </a:rPr>
              <a:t>Redundancy in place </a:t>
            </a:r>
            <a:endParaRPr sz="2400" b="1" dirty="0">
              <a:solidFill>
                <a:srgbClr val="4F8F12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2971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dirty="0">
                <a:solidFill>
                  <a:srgbClr val="1B1F17"/>
                </a:solidFill>
                <a:latin typeface="Arial"/>
              </a:rPr>
              <a:t>More than one person can explain the gap — so recon isn’t a single point of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264"/>
                </a:solidFill>
                <a:latin typeface="Arial"/>
              </a:rPr>
              <a:t>Answers the “hit by a bus” risk from Finance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286000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4F8F12"/>
                </a:solidFill>
                <a:latin typeface="Arial"/>
              </a:rPr>
              <a:t>&lt;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2971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1B1F17"/>
                </a:solidFill>
                <a:latin typeface="Arial"/>
              </a:rPr>
              <a:t>Target time to a trusted view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754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264"/>
                </a:solidFill>
                <a:latin typeface="Arial"/>
              </a:rPr>
              <a:t>North-star product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920240"/>
            <a:ext cx="35204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6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199" y="2286000"/>
            <a:ext cx="2971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4F8F12"/>
                </a:solidFill>
                <a:latin typeface="Arial"/>
              </a:rPr>
              <a:t>~40–60%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3200400"/>
            <a:ext cx="2971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1F17"/>
                </a:solidFill>
                <a:latin typeface="Arial"/>
              </a:rPr>
              <a:t>Recon-time reductions seen
in HRIS–FP&amp;A integration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475488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264"/>
                </a:solidFill>
                <a:latin typeface="Arial"/>
              </a:rPr>
              <a:t>IJIRMPS / industry pattern — validate in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7264"/>
                </a:solidFill>
                <a:latin typeface="Arial"/>
              </a:rPr>
              <a:t>BambooHR interview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379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7264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3C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bambooh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2011680" cy="4317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03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B1F17"/>
                </a:solidFill>
                <a:latin typeface="Arial"/>
              </a:rPr>
              <a:t>“The problem is I’m the only one that reconciliation relies on. If I got hit by a bus, we’d be doomed.”</a:t>
            </a:r>
          </a:p>
          <a:p>
            <a:pPr>
              <a:spcBef>
                <a:spcPts val="1600"/>
              </a:spcBef>
            </a:pPr>
            <a:r>
              <a:rPr sz="1600" b="1">
                <a:solidFill>
                  <a:srgbClr val="4F8F12"/>
                </a:solidFill>
                <a:latin typeface="Arial"/>
              </a:rPr>
              <a:t>— Head of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4F8F12"/>
                </a:solidFill>
                <a:latin typeface="Arial"/>
              </a:rPr>
              <a:t>Key takeaway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1B1F17"/>
                </a:solidFill>
                <a:latin typeface="Arial"/>
              </a:rPr>
              <a:t/>
            </a:r>
          </a:p>
          <a:p>
            <a:pPr algn="l">
              <a:spcBef>
                <a:spcPts val="1000"/>
              </a:spcBef>
            </a:pPr>
            <a:r>
              <a:rPr sz="1600" b="1">
                <a:solidFill>
                  <a:srgbClr val="4F8F12"/>
                </a:solidFill>
                <a:latin typeface="Arial"/>
              </a:rPr>
              <a:t/>
            </a:r>
          </a:p>
          <a:p>
            <a:pPr>
              <a:spcBef>
                <a:spcPts val="1000"/>
              </a:spcBef>
            </a:pPr>
            <a:r>
              <a:rPr sz="2200" b="1">
                <a:solidFill>
                  <a:srgbClr val="1B1F17"/>
                </a:solidFill>
                <a:latin typeface="Arial"/>
              </a:rPr>
              <a:t/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6A7264"/>
                </a:solidFill>
                <a:latin typeface="Arial"/>
              </a:rPr>
              <a:t/>
            </a:r>
          </a:p>
          <a:p>
            <a:pPr>
              <a:spcBef>
                <a:spcPts val="1000"/>
              </a:spcBef>
            </a:pPr>
            <a:r>
              <a:rPr sz="2200" b="1">
                <a:solidFill>
                  <a:srgbClr val="1B1F17"/>
                </a:solidFill>
                <a:latin typeface="Arial"/>
              </a:rPr>
              <a:t>Headcount recon shouldn’t live in one person’s head — or one spreadsheet.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6A7264"/>
                </a:solidFill>
                <a:latin typeface="Arial"/>
              </a:rPr>
              <a:t>Make the story shared: clear as-of, named gaps, and a path Finance and HR can both run.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7264"/>
                </a:solidFill>
                <a:latin typeface="Arial"/>
              </a:rPr>
              <a:t>Live prototype in README  ·  BambooHR interview case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1600</Words>
  <Application>Microsoft Macintosh PowerPoint</Application>
  <PresentationFormat>Widescreen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Aran Bailey</cp:lastModifiedBy>
  <cp:revision>4</cp:revision>
  <dcterms:created xsi:type="dcterms:W3CDTF">2013-01-27T09:14:16Z</dcterms:created>
  <dcterms:modified xsi:type="dcterms:W3CDTF">2026-08-03T19:24:17Z</dcterms:modified>
  <cp:category/>
</cp:coreProperties>
</file>