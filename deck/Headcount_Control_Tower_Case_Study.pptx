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0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9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2464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on the problem. Prototype is the proof; this deck is why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 this out loud: we are solving “make headcount recon understandable,” not “collect more HR data.” Rooted in a real Utah Head of Finance workflow and follow-up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Client why = time, trust, shared language. Tie every prototype feature back to one of these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BambooHR why = GTM into Finance + stickiness of the close ritual. Quote is primary research — treat as directional, not a win-rate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Emphasize: proprietary contact data was scrubbed. Structure is the point — 4 tabs, dense role rows, monthly columns, formulas. This is why “presentation tools are complicated and nobody understands them.”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bus-factor quote after the comprehension quote. Problem is not only time — institutional knowledge concentrated in one FP&amp;A owner. Product value = shared story so the company is not doomed if that person is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Prefer cohesion + recon-time stats. Cite carefully: Gartner via Kinnect; IJIRMPS for 14→8 days and 45% recon-time cut; PwC 25% discrepancy. Also available: Workday customer claim 60% less manual recon / 50% faster close — use only if you want vendor-sourced color.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helped generate; human kept five and mapped each to a UI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 as a PM operating model: sit with Finance, co-design with HR, pair with Design on comprehension, negotiate with Eng on automation boundaries, and bring Implementation in before 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Honesty: one deep signal + artifact now; structured interviews before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Partner feedback drove cuts: contractors out; named Marketing −2; pivots; July close vs viewing date; manual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North star: time to understand headcount at a given close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Stay humble on ROI. Point back to market recon-time evidence + partner’s lived spreadsheet pain.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End on the bus-factor quote. Takeaway: resilience and shared understanding, not only speed. Offer the live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2194560" cy="470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286000"/>
            <a:ext cx="10058400" cy="122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dirty="0">
                <a:solidFill>
                  <a:srgbClr val="1B1F17"/>
                </a:solidFill>
                <a:latin typeface="Arial"/>
              </a:rPr>
              <a:t>Headcount </a:t>
            </a:r>
            <a:r>
              <a:rPr lang="en-US" sz="4200" b="1" dirty="0">
                <a:solidFill>
                  <a:srgbClr val="1B1F17"/>
                </a:solidFill>
                <a:latin typeface="Arial"/>
              </a:rPr>
              <a:t>Reconciliation</a:t>
            </a:r>
            <a:endParaRPr sz="4200" b="1" dirty="0">
              <a:solidFill>
                <a:srgbClr val="1B1F17"/>
              </a:solidFill>
              <a:latin typeface="Arial"/>
            </a:endParaRPr>
          </a:p>
          <a:p>
            <a:pPr algn="l">
              <a:spcBef>
                <a:spcPts val="1400"/>
              </a:spcBef>
            </a:pPr>
            <a:r>
              <a:rPr sz="2000" b="0" dirty="0">
                <a:solidFill>
                  <a:srgbClr val="6A7264"/>
                </a:solidFill>
                <a:latin typeface="Arial"/>
              </a:rPr>
              <a:t>Product discovery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1B1F17"/>
                </a:solidFill>
                <a:latin typeface="Arial"/>
              </a:rPr>
              <a:t>The problem: leaders can’t trust or explain planned vs filled headcount.</a:t>
            </a:r>
          </a:p>
          <a:p>
            <a:pPr algn="l">
              <a:spcBef>
                <a:spcPts val="1000"/>
              </a:spcBef>
            </a:pPr>
            <a:r>
              <a:rPr sz="1800" b="0" dirty="0">
                <a:solidFill>
                  <a:srgbClr val="1B1F17"/>
                </a:solidFill>
                <a:latin typeface="Arial"/>
              </a:rPr>
              <a:t>The bet: make that story clear in 30 seconds</a:t>
            </a:r>
            <a:r>
              <a:rPr lang="en-US" sz="1800" b="0" dirty="0">
                <a:solidFill>
                  <a:srgbClr val="1B1F17"/>
                </a:solidFill>
                <a:latin typeface="Arial"/>
              </a:rPr>
              <a:t>, 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for Finance,</a:t>
            </a:r>
            <a:r>
              <a:rPr lang="en-US" dirty="0">
                <a:solidFill>
                  <a:srgbClr val="1B1F17"/>
                </a:solidFill>
                <a:latin typeface="Arial"/>
              </a:rPr>
              <a:t> and HR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CCBFDE-C82F-5728-A64E-663B5BD26A48}"/>
              </a:ext>
            </a:extLst>
          </p:cNvPr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4F8F12"/>
                </a:solidFill>
                <a:latin typeface="Arial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lang="en-US" sz="2600" b="1" dirty="0">
                <a:solidFill>
                  <a:srgbClr val="1B1F17"/>
                </a:solidFill>
                <a:latin typeface="Arial"/>
              </a:rPr>
              <a:t>What is Headcount Reconciliation? 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 b="0" dirty="0">
                <a:solidFill>
                  <a:srgbClr val="6A7264"/>
                </a:solidFill>
                <a:latin typeface="Arial"/>
              </a:rPr>
              <a:t>A 60-second primer before we get into the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10972800" cy="182880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32641"/>
            <a:ext cx="103327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2000" b="0" dirty="0">
                <a:solidFill>
                  <a:srgbClr val="1B1F17"/>
                </a:solidFill>
                <a:latin typeface="Arial"/>
              </a:rPr>
              <a:t>Headcount reconciliation is comparing the hiring plan leadership approved to the people actually in roles</a:t>
            </a:r>
            <a:r>
              <a:rPr lang="en-US" sz="2000" b="0" dirty="0">
                <a:solidFill>
                  <a:srgbClr val="1B1F17"/>
                </a:solidFill>
                <a:latin typeface="Arial"/>
              </a:rPr>
              <a:t>,</a:t>
            </a:r>
            <a:r>
              <a:rPr sz="2000" b="0" dirty="0">
                <a:solidFill>
                  <a:srgbClr val="1B1F17"/>
                </a:solidFill>
                <a:latin typeface="Arial"/>
              </a:rPr>
              <a:t> and explaining any difference.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1B1F17"/>
                </a:solidFill>
                <a:latin typeface="Arial"/>
              </a:rPr>
              <a:t>Approved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43400"/>
            <a:ext cx="29718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 dirty="0">
                <a:solidFill>
                  <a:srgbClr val="6A7264"/>
                </a:solidFill>
                <a:latin typeface="Arial"/>
              </a:rPr>
              <a:t>How many people the company said it would hire or keep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usually locked with the budget.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9159" y="3840480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1B1F17"/>
                </a:solidFill>
                <a:latin typeface="Arial"/>
              </a:rPr>
              <a:t>Filled (actual)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434340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How many people are really in those roles as of a specific date (often month-end close).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36118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200" y="3840480"/>
            <a:ext cx="2971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 dirty="0">
                <a:solidFill>
                  <a:srgbClr val="1B1F17"/>
                </a:solidFill>
                <a:latin typeface="Arial"/>
              </a:rPr>
              <a:t>The recon</a:t>
            </a:r>
            <a:r>
              <a:rPr lang="en-US" sz="1800" b="1" dirty="0">
                <a:solidFill>
                  <a:srgbClr val="1B1F17"/>
                </a:solidFill>
                <a:latin typeface="Arial"/>
              </a:rPr>
              <a:t>ciliation</a:t>
            </a:r>
            <a:endParaRPr sz="18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58200" y="434340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The work of matching those views, naming gaps, and agreeing on one number Finance and HR can trust.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8076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0" dirty="0">
                <a:solidFill>
                  <a:srgbClr val="1B1F17"/>
                </a:solidFill>
                <a:latin typeface="Arial"/>
              </a:rPr>
              <a:t>Why it matters: people are usually the largest operating cost</a:t>
            </a:r>
            <a:r>
              <a:rPr lang="en-US" sz="1400" b="0" dirty="0">
                <a:solidFill>
                  <a:srgbClr val="1B1F17"/>
                </a:solidFill>
                <a:latin typeface="Arial"/>
              </a:rPr>
              <a:t>,</a:t>
            </a:r>
            <a:r>
              <a:rPr sz="1400" b="0" dirty="0">
                <a:solidFill>
                  <a:srgbClr val="1B1F17"/>
                </a:solidFill>
                <a:latin typeface="Arial"/>
              </a:rPr>
              <a:t> so this number drives hiring, budget, and board conversations.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THE PROBLEM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0"/>
            <a:ext cx="95554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Headcount r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econciliation is critical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but nobody can follow the story.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number isn’t trusted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29260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Approved plan, working plan, and filled headcount live in different tabs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often only one Finance owner can rebuild the story.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HR and Finance often have different numbers.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gap isn’t explained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Marketing can be −2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headcount 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vs plan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ned headcount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with no named reason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 (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not backfilling, role closed, or a pivot to another team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).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B1F17"/>
                </a:solidFill>
                <a:latin typeface="Arial"/>
              </a:rPr>
              <a:t>The date isn’t 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3108960"/>
            <a:ext cx="2926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Is this as of today or as of month-end close? Without a trusted as-of, every recon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ciliation</a:t>
            </a:r>
            <a:r>
              <a:rPr sz="1500" b="0" dirty="0">
                <a:solidFill>
                  <a:srgbClr val="6A7264"/>
                </a:solidFill>
                <a:latin typeface="Arial"/>
              </a:rPr>
              <a:t> rebuilds trust from scratch.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W</a:t>
            </a:r>
            <a:r>
              <a:rPr lang="en-US" sz="1100" b="1" dirty="0">
                <a:solidFill>
                  <a:srgbClr val="4F8F12"/>
                </a:solidFill>
                <a:latin typeface="Arial"/>
              </a:rPr>
              <a:t>HO BENEFITS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With one system, everyone benefits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92D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6032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92D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931920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92D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Managers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754879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029199"/>
            <a:ext cx="1920240" cy="411480"/>
          </a:xfrm>
          <a:prstGeom prst="rect">
            <a:avLst/>
          </a:prstGeom>
          <a:solidFill>
            <a:srgbClr val="FFFFFF"/>
          </a:solidFill>
          <a:ln>
            <a:solidFill>
              <a:srgbClr val="92D0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Leadership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4/15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1645919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A headcount number they can trust at close</a:t>
            </a:r>
            <a:r>
              <a:rPr lang="en-US" sz="1500" b="0" dirty="0">
                <a:solidFill>
                  <a:srgbClr val="4F8F12"/>
                </a:solidFill>
                <a:latin typeface="Arial"/>
              </a:rPr>
              <a:t>,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 and that isn’t locked in one person’s head.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274320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Real alignment with Finance on every hire and departure</a:t>
            </a:r>
            <a:r>
              <a:rPr lang="en-US" sz="1500" b="0" dirty="0">
                <a:solidFill>
                  <a:srgbClr val="4F8F12"/>
                </a:solidFill>
                <a:latin typeface="Arial"/>
              </a:rPr>
              <a:t>,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 without spreadsheet ping-pong.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840480"/>
            <a:ext cx="8229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Clear visibility into whether their hiring request is moving</a:t>
            </a:r>
            <a:r>
              <a:rPr lang="en-US" sz="1500" b="0" dirty="0">
                <a:solidFill>
                  <a:srgbClr val="4F8F12"/>
                </a:solidFill>
                <a:latin typeface="Arial"/>
              </a:rPr>
              <a:t>,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 without chasing people.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937759"/>
            <a:ext cx="8229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4F8F12"/>
                </a:solidFill>
                <a:latin typeface="Arial"/>
              </a:rPr>
              <a:t>Benefit: 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Confidence the people story holds up for the board</a:t>
            </a:r>
            <a:r>
              <a:rPr lang="en-US" sz="1500" b="0" dirty="0">
                <a:solidFill>
                  <a:srgbClr val="4F8F12"/>
                </a:solidFill>
                <a:latin typeface="Arial"/>
              </a:rPr>
              <a:t>,</a:t>
            </a:r>
            <a:r>
              <a:rPr sz="1500" b="0" dirty="0">
                <a:solidFill>
                  <a:srgbClr val="4F8F12"/>
                </a:solidFill>
                <a:latin typeface="Arial"/>
              </a:rPr>
              <a:t> even if a key FP&amp;A owner is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4F8F12"/>
                </a:solidFill>
                <a:latin typeface="Arial"/>
              </a:rPr>
              <a:t>BUSINESS BENEFIT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A product Finance will fight for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not only HR.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Sell Finance easier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Head of Finance: “If this product existed, you would sell the finance department much easier.” Direct GTM signal.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Expand beyond HRIS 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77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Headcount recon sits on BambooHR’s source-of-truth. Makes the HRIS the system Finance opens at close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not a spreadsheet export.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B1F17"/>
                </a:solidFill>
                <a:latin typeface="Arial"/>
              </a:rPr>
              <a:t>Differentiate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dirty="0">
                <a:solidFill>
                  <a:srgbClr val="6A7264"/>
                </a:solidFill>
                <a:latin typeface="Arial"/>
              </a:rPr>
              <a:t>Companies like ADP who have large clients do not have this type of product even though it is a major time commitment for current finance leaders.</a:t>
            </a:r>
            <a:endParaRPr sz="14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35508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4114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Retention &amp;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Once FP&amp;A depends on BambooHR for the monthly story, switching costs rise and seats expand into finance buyers.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WHAT IT LOOKS LIKE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Spreadsheet that only the FP&amp;A leader can follow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866001"/>
            <a:ext cx="9726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6A7264"/>
                </a:solidFill>
                <a:latin typeface="Arial"/>
              </a:rPr>
              <a:t>Fictional Northline data</a:t>
            </a:r>
            <a:r>
              <a:rPr lang="en-US" sz="1200" b="0" dirty="0">
                <a:solidFill>
                  <a:srgbClr val="6A7264"/>
                </a:solidFill>
                <a:latin typeface="Arial"/>
              </a:rPr>
              <a:t>: This is a real spreadsheet from a Head of Finance but with numbers and roles changed to protect confidentiality </a:t>
            </a:r>
            <a:endParaRPr sz="1200" b="0" dirty="0">
              <a:solidFill>
                <a:srgbClr val="6A7264"/>
              </a:solidFill>
              <a:latin typeface="Arial"/>
            </a:endParaRPr>
          </a:p>
        </p:txBody>
      </p:sp>
      <p:pic>
        <p:nvPicPr>
          <p:cNvPr id="7" name="Picture 6" descr="00-current-spread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17320"/>
            <a:ext cx="7763069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EVIDENCE</a:t>
            </a:r>
            <a:r>
              <a:rPr lang="en-US" sz="1100" b="1" dirty="0">
                <a:solidFill>
                  <a:srgbClr val="4F8F12"/>
                </a:solidFill>
                <a:latin typeface="Arial"/>
              </a:rPr>
              <a:t> – REASONS TO BELIEVE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Interview with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Head of Finance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 at 300 employee company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60020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1B1F17"/>
                </a:solidFill>
                <a:latin typeface="Arial"/>
              </a:rPr>
              <a:t>“Reconciliation is critical, but the presentation tools are </a:t>
            </a:r>
            <a:r>
              <a:rPr lang="en-US" sz="2000" b="0" dirty="0">
                <a:solidFill>
                  <a:srgbClr val="1B1F17"/>
                </a:solidFill>
                <a:latin typeface="Arial"/>
              </a:rPr>
              <a:t>complicated,</a:t>
            </a:r>
            <a:r>
              <a:rPr sz="2000" b="0" dirty="0">
                <a:solidFill>
                  <a:srgbClr val="1B1F17"/>
                </a:solidFill>
                <a:latin typeface="Arial"/>
              </a:rPr>
              <a:t> and nobody understands them”</a:t>
            </a:r>
          </a:p>
          <a:p>
            <a:pPr algn="l">
              <a:spcBef>
                <a:spcPts val="1400"/>
              </a:spcBef>
            </a:pPr>
            <a:r>
              <a:rPr sz="1400" b="1" dirty="0">
                <a:solidFill>
                  <a:srgbClr val="4F8F12"/>
                </a:solidFill>
                <a:latin typeface="Arial"/>
              </a:rPr>
              <a:t>— Head of Finance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52628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1B1F17"/>
                </a:solidFill>
                <a:latin typeface="Arial"/>
              </a:rPr>
              <a:t>“If this product existed, you would sell the finance department much easier”</a:t>
            </a:r>
          </a:p>
          <a:p>
            <a:pPr algn="l">
              <a:spcBef>
                <a:spcPts val="1400"/>
              </a:spcBef>
            </a:pPr>
            <a:r>
              <a:rPr sz="1400" b="1" dirty="0">
                <a:solidFill>
                  <a:srgbClr val="4F8F12"/>
                </a:solidFill>
                <a:latin typeface="Arial"/>
              </a:rPr>
              <a:t>— Head of Finance  ·  Direct GTM signal for BambooHR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7/15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7180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3172968"/>
            <a:ext cx="10241280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dirty="0">
                <a:solidFill>
                  <a:srgbClr val="1B1F17"/>
                </a:solidFill>
                <a:latin typeface="Arial"/>
              </a:rPr>
              <a:t>“The problem is I’m the only one that reconciliation relies on. If I got hit by a bus, we’d be doomed”</a:t>
            </a:r>
          </a:p>
          <a:p>
            <a:pPr>
              <a:spcBef>
                <a:spcPts val="1000"/>
              </a:spcBef>
            </a:pPr>
            <a:r>
              <a:rPr sz="1300" b="1" dirty="0">
                <a:solidFill>
                  <a:srgbClr val="4F8F12"/>
                </a:solidFill>
                <a:latin typeface="Arial"/>
              </a:rPr>
              <a:t>— Head of Finance  ·  Key-person / bus</a:t>
            </a:r>
            <a:r>
              <a:rPr lang="en-US" sz="1300" b="1" dirty="0">
                <a:solidFill>
                  <a:srgbClr val="4F8F12"/>
                </a:solidFill>
                <a:latin typeface="Arial"/>
              </a:rPr>
              <a:t>iness</a:t>
            </a:r>
            <a:r>
              <a:rPr sz="1300" b="1" dirty="0">
                <a:solidFill>
                  <a:srgbClr val="4F8F12"/>
                </a:solidFill>
                <a:latin typeface="Arial"/>
              </a:rPr>
              <a:t>-factor risk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4F8F12"/>
                </a:solidFill>
                <a:latin typeface="Arial"/>
              </a:rPr>
              <a:t>EVIDENCE – REASONS TO BELIEVE</a:t>
            </a:r>
          </a:p>
          <a:p>
            <a:pPr algn="l"/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Market 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Research: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HR and Finance still don’t share one headcount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of HR &amp; Finance teams lack shared systems for workforce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Gartner, cited via Kinnect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14 → 8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306324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Without a connected system between HR and Finance </a:t>
            </a:r>
            <a:r>
              <a:rPr lang="en-US" sz="1500" dirty="0">
                <a:solidFill>
                  <a:srgbClr val="1B1F17"/>
                </a:solidFill>
                <a:latin typeface="Arial"/>
              </a:rPr>
              <a:t>headcount reconciliation takes 14 days. With a connected system it takes 8. This is without a product that actively monitors reconciliation </a:t>
            </a:r>
            <a:endParaRPr sz="1500" b="0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IJIRMPS healthcare case study,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9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926080"/>
            <a:ext cx="3063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average discrepancy between HR and Finance headcount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PwC (2022), cited in IJIRMPS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Five initial hypotheses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Cognitive load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Definition debt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5468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No decision object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59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2062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79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Time blindness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98348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1B1F17"/>
                </a:solidFill>
                <a:latin typeface="Arial"/>
              </a:rPr>
              <a:t>Wrong default </a:t>
            </a:r>
            <a:r>
              <a:rPr sz="1600" b="1" dirty="0" err="1">
                <a:solidFill>
                  <a:srgbClr val="1B1F17"/>
                </a:solidFill>
                <a:latin typeface="Arial"/>
              </a:rPr>
              <a:t>viz</a:t>
            </a:r>
            <a:r>
              <a:rPr lang="en-US" sz="1600" b="1" dirty="0" err="1">
                <a:solidFill>
                  <a:srgbClr val="1B1F17"/>
                </a:solidFill>
                <a:latin typeface="Arial"/>
              </a:rPr>
              <a:t>ualization</a:t>
            </a:r>
            <a:endParaRPr sz="1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9/15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150876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Leaders can follow the recon without a specialist walking them through the tabs.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237744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Finance and HR mean the same thing when they say backfill, not backfilling, or pivot.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324612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Mid-cycle changes don’t disappear into one person’s spreadsheet.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4114799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Everyone knows whether the number is as of close — or as of today.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498348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F12"/>
                </a:solidFill>
                <a:latin typeface="Arial"/>
              </a:rPr>
              <a:t>Benefit: </a:t>
            </a:r>
            <a:r>
              <a:rPr sz="1400" b="0">
                <a:solidFill>
                  <a:srgbClr val="4F8F12"/>
                </a:solidFill>
                <a:latin typeface="Arial"/>
              </a:rPr>
              <a:t>The gap is readable in one pass — not buried in a grid for authors.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4F8F12"/>
                </a:solidFill>
                <a:latin typeface="Arial"/>
              </a:rPr>
              <a:t>Product Process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Cross-Functional Collaboration is a must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dirty="0">
                <a:solidFill>
                  <a:srgbClr val="6A7264"/>
                </a:solidFill>
                <a:latin typeface="Arial"/>
              </a:rPr>
              <a:t>Some of the teams I would collaborate with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own the problem statement and the cuts. I keep a visible decision log so Engineering and Design never guess what “done” means.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 (customer + internal FP&amp;A)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30632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sit in their close ritual. I learn their words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approved plan, working plan, filled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and pressure-test every screen against a real recon week.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79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 / People 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9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co-design dispositions inside HR’s flow, not as a Finance bolt-on. If they won’t tag a Tuesday attrition, the product failed.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I pair early on the 30-second test: can a first-time user explain the gap? If not, we redesign before we add features.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6344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617720"/>
            <a:ext cx="30632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negotiate automation vs manual update with them. We agree source of truth, audit, and what’s intentionally human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before we write tickets.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79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79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Implementation / 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9" y="4617720"/>
            <a:ext cx="30632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I pull them in before GA. Spreadsheet migration, glossary, and pilot success criteria are product work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 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not a surprise for support.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INTERVIEWS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What we have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 where I would continue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In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754880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Head of Finance conversation (exact quotes)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algn="l"/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Live multi-tab workbook: approved plan / roll-forward / HC recon / net-new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1B1F17"/>
                </a:solidFill>
                <a:latin typeface="Arial"/>
              </a:rPr>
              <a:t>Follow-up: name what’s behind the gap, clear as-of, not backfilling + pivots, drop contractors, tell the story, manual mid-cycle edits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1783080"/>
            <a:ext cx="4663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Next five interviews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 (more to follow)</a:t>
            </a:r>
            <a:endParaRPr sz="1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29400" y="2286000"/>
            <a:ext cx="466344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FP&amp;A lead — close ritual &amp; recon hours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HR ops — disposition SLA &amp; ticket path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Hiring manager — request status need</a:t>
            </a: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1B1F17"/>
                </a:solidFill>
                <a:latin typeface="Arial"/>
              </a:rPr>
              <a:t>Controller / CFO — board report b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ar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500" b="0" dirty="0">
              <a:solidFill>
                <a:srgbClr val="1B1F17"/>
              </a:solidFill>
              <a:latin typeface="Arial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500" b="0" dirty="0">
                <a:solidFill>
                  <a:srgbClr val="1B1F17"/>
                </a:solidFill>
                <a:latin typeface="Arial"/>
              </a:rPr>
              <a:t>Implementation lead — spreadsheet migration pain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ITERATIONS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Build, Iterate, Launch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Story first  ·  Approved plan · filled · named gap</a:t>
            </a:r>
          </a:p>
        </p:txBody>
      </p:sp>
      <p:pic>
        <p:nvPicPr>
          <p:cNvPr id="8" name="Picture 7" descr="01-home-outlook-t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783080"/>
            <a:ext cx="4535126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79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Bridge  ·  Backfill · not backfilling · pivot</a:t>
            </a:r>
          </a:p>
        </p:txBody>
      </p:sp>
      <p:pic>
        <p:nvPicPr>
          <p:cNvPr id="11" name="Picture 10" descr="02-bridge-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799" y="1783080"/>
            <a:ext cx="4535126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Manual update  ·  Mid-cycle edits systems miss</a:t>
            </a:r>
          </a:p>
        </p:txBody>
      </p:sp>
      <p:pic>
        <p:nvPicPr>
          <p:cNvPr id="14" name="Picture 13" descr="03-approvals-t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4251960"/>
            <a:ext cx="4535126" cy="187451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5079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Export  ·  Close-ready share-out</a:t>
            </a:r>
          </a:p>
        </p:txBody>
      </p:sp>
      <p:pic>
        <p:nvPicPr>
          <p:cNvPr id="17" name="Picture 16" descr="04-export-t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799" y="4251960"/>
            <a:ext cx="4535126" cy="1874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SUCCESS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Measure understanding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. Did this work? 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1B1F17"/>
                </a:solidFill>
                <a:latin typeface="Arial"/>
              </a:rPr>
              <a:t>Time to understand H</a:t>
            </a:r>
            <a:r>
              <a:rPr lang="en-US" sz="1500" b="1" dirty="0">
                <a:solidFill>
                  <a:srgbClr val="1B1F17"/>
                </a:solidFill>
                <a:latin typeface="Arial"/>
              </a:rPr>
              <a:t>eadcount</a:t>
            </a:r>
            <a:r>
              <a:rPr sz="1500" b="1" dirty="0">
                <a:solidFill>
                  <a:srgbClr val="1B1F17"/>
                </a:solidFill>
                <a:latin typeface="Arial"/>
              </a:rPr>
              <a:t> @ close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&lt; 30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Comprehension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1828800"/>
            <a:ext cx="30632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1B1F17"/>
                </a:solidFill>
                <a:latin typeface="Arial"/>
              </a:rPr>
              <a:t>Month-end reconciliation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Hours →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Speed +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9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Disposition logged on attrition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% of exits tagged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9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HR–Finance cohesion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Unexplained dept gaps at close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→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Named drivers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3484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Variance follow-ups /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Fewer threads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Trust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79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83879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12479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Weekly active Finance + HR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9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Both personas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9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Real 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ILLUSTRATIVE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Potential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 dirty="0">
                <a:solidFill>
                  <a:srgbClr val="6A7264"/>
                </a:solidFill>
                <a:latin typeface="Arial"/>
              </a:rPr>
              <a:t>Modeled for a ~ 300 Employee company</a:t>
            </a:r>
            <a:endParaRPr sz="1300" b="1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71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dirty="0">
                <a:solidFill>
                  <a:srgbClr val="4F8F12"/>
                </a:solidFill>
                <a:latin typeface="Arial"/>
              </a:rPr>
              <a:t>Redundancy in place </a:t>
            </a:r>
            <a:endParaRPr sz="2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29718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More than one person can explain the gap — so recon isn’t a single point of 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Answers the “hit by a bus” risk from 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&lt;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200400"/>
            <a:ext cx="2971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Target time to a trusted view
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North-star product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~40–60%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Recon-time reductions seen
in HRIS–FP&amp;A integration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IJIRMPS / industry pattern — validate in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188720"/>
            <a:ext cx="2011680" cy="4317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369735"/>
            <a:ext cx="10645140" cy="3349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4000" b="1" dirty="0">
                <a:solidFill>
                  <a:srgbClr val="4F8F12"/>
                </a:solidFill>
                <a:latin typeface="Arial"/>
              </a:rPr>
              <a:t>Key takeaway</a:t>
            </a:r>
          </a:p>
          <a:p>
            <a:pPr>
              <a:spcBef>
                <a:spcPts val="1400"/>
              </a:spcBef>
            </a:pPr>
            <a:r>
              <a:rPr sz="4000" b="1" dirty="0">
                <a:solidFill>
                  <a:srgbClr val="1B1F17"/>
                </a:solidFill>
                <a:latin typeface="Arial"/>
              </a:rPr>
              <a:t>Headcount recon shouldn’t</a:t>
            </a:r>
            <a:r>
              <a:rPr lang="en-US" sz="4000" b="1" dirty="0">
                <a:solidFill>
                  <a:srgbClr val="1B1F17"/>
                </a:solidFill>
                <a:latin typeface="Arial"/>
              </a:rPr>
              <a:t> be complicated,</a:t>
            </a:r>
            <a:r>
              <a:rPr sz="4000" b="1" dirty="0">
                <a:solidFill>
                  <a:srgbClr val="1B1F17"/>
                </a:solidFill>
                <a:latin typeface="Arial"/>
              </a:rPr>
              <a:t> live in one person’s head</a:t>
            </a:r>
            <a:r>
              <a:rPr lang="en-US" sz="40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4000" b="1" dirty="0">
                <a:solidFill>
                  <a:srgbClr val="1B1F17"/>
                </a:solidFill>
                <a:latin typeface="Arial"/>
              </a:rPr>
              <a:t> or one spreadsheet.</a:t>
            </a:r>
            <a:r>
              <a:rPr lang="en-US" sz="4000" b="1" dirty="0">
                <a:solidFill>
                  <a:srgbClr val="1B1F17"/>
                </a:solidFill>
                <a:latin typeface="Arial"/>
              </a:rPr>
              <a:t> With our “Headcount Control Tower” </a:t>
            </a:r>
            <a:r>
              <a:rPr lang="en-US" sz="4000" b="1">
                <a:solidFill>
                  <a:srgbClr val="1B1F17"/>
                </a:solidFill>
                <a:latin typeface="Arial"/>
              </a:rPr>
              <a:t>we can fix this.</a:t>
            </a:r>
            <a:endParaRPr sz="40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A7264"/>
                </a:solidFill>
                <a:latin typeface="Arial"/>
              </a:rPr>
              <a:t>15/15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1747</Words>
  <Application>Microsoft Macintosh PowerPoint</Application>
  <PresentationFormat>Widescreen</PresentationFormat>
  <Paragraphs>212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Aran Bailey</cp:lastModifiedBy>
  <cp:revision>14</cp:revision>
  <dcterms:created xsi:type="dcterms:W3CDTF">2013-01-27T09:14:16Z</dcterms:created>
  <dcterms:modified xsi:type="dcterms:W3CDTF">2026-08-03T19:47:12Z</dcterms:modified>
  <cp:category/>
</cp:coreProperties>
</file>